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98" r:id="rId4"/>
    <p:sldId id="296" r:id="rId5"/>
    <p:sldId id="297" r:id="rId6"/>
    <p:sldId id="288" r:id="rId7"/>
    <p:sldId id="295" r:id="rId8"/>
    <p:sldId id="294" r:id="rId9"/>
    <p:sldId id="293" r:id="rId10"/>
    <p:sldId id="292" r:id="rId11"/>
    <p:sldId id="289" r:id="rId12"/>
    <p:sldId id="291" r:id="rId13"/>
    <p:sldId id="290" r:id="rId14"/>
    <p:sldId id="287" r:id="rId15"/>
    <p:sldId id="286" r:id="rId16"/>
    <p:sldId id="280" r:id="rId17"/>
    <p:sldId id="285" r:id="rId18"/>
    <p:sldId id="281" r:id="rId19"/>
    <p:sldId id="282" r:id="rId20"/>
    <p:sldId id="283" r:id="rId21"/>
    <p:sldId id="284" r:id="rId22"/>
    <p:sldId id="279" r:id="rId23"/>
    <p:sldId id="275" r:id="rId24"/>
    <p:sldId id="278" r:id="rId25"/>
    <p:sldId id="277" r:id="rId26"/>
    <p:sldId id="276" r:id="rId27"/>
    <p:sldId id="274" r:id="rId28"/>
    <p:sldId id="269" r:id="rId29"/>
    <p:sldId id="272" r:id="rId30"/>
    <p:sldId id="273" r:id="rId31"/>
    <p:sldId id="271" r:id="rId32"/>
    <p:sldId id="270" r:id="rId33"/>
    <p:sldId id="265" r:id="rId34"/>
    <p:sldId id="266" r:id="rId35"/>
    <p:sldId id="267" r:id="rId36"/>
    <p:sldId id="268" r:id="rId37"/>
    <p:sldId id="257" r:id="rId38"/>
    <p:sldId id="258" r:id="rId39"/>
    <p:sldId id="259" r:id="rId40"/>
    <p:sldId id="260" r:id="rId41"/>
    <p:sldId id="261" r:id="rId42"/>
    <p:sldId id="262" r:id="rId43"/>
    <p:sldId id="263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6.jpeg"/><Relationship Id="rId4" Type="http://schemas.openxmlformats.org/officeDocument/2006/relationships/image" Target="../media/image85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8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jpeg"/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jpeg"/><Relationship Id="rId5" Type="http://schemas.openxmlformats.org/officeDocument/2006/relationships/image" Target="../media/image93.jpeg"/><Relationship Id="rId4" Type="http://schemas.openxmlformats.org/officeDocument/2006/relationships/image" Target="../media/image92.jpe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jpeg"/><Relationship Id="rId3" Type="http://schemas.openxmlformats.org/officeDocument/2006/relationships/image" Target="../media/image97.jpeg"/><Relationship Id="rId7" Type="http://schemas.openxmlformats.org/officeDocument/2006/relationships/image" Target="../media/image101.jpeg"/><Relationship Id="rId2" Type="http://schemas.openxmlformats.org/officeDocument/2006/relationships/image" Target="../media/image9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jpeg"/><Relationship Id="rId5" Type="http://schemas.openxmlformats.org/officeDocument/2006/relationships/image" Target="../media/image99.jpeg"/><Relationship Id="rId4" Type="http://schemas.openxmlformats.org/officeDocument/2006/relationships/image" Target="../media/image98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jpeg"/><Relationship Id="rId7" Type="http://schemas.openxmlformats.org/officeDocument/2006/relationships/image" Target="../media/image108.png"/><Relationship Id="rId2" Type="http://schemas.openxmlformats.org/officeDocument/2006/relationships/image" Target="../media/image10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jpeg"/><Relationship Id="rId4" Type="http://schemas.openxmlformats.org/officeDocument/2006/relationships/image" Target="../media/image1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r>
                      <a:rPr lang="en-US" altLang="ko-KR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0 ,  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d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func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≧0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/>
          <p:cNvGrpSpPr/>
          <p:nvPr/>
        </p:nvGrpSpPr>
        <p:grpSpPr>
          <a:xfrm>
            <a:off x="949910" y="2378850"/>
            <a:ext cx="5220071" cy="677814"/>
            <a:chOff x="949910" y="2378850"/>
            <a:chExt cx="5220071" cy="6778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blipFill>
                  <a:blip r:embed="rId4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/>
                <p:cNvSpPr txBox="1"/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+...+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blipFill>
                  <a:blip r:embed="rId5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blipFill>
                <a:blip r:embed="rId6"/>
                <a:stretch>
                  <a:fillRect t="-107692" r="-21756" b="-1707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0" b="44053"/>
          <a:stretch/>
        </p:blipFill>
        <p:spPr>
          <a:xfrm>
            <a:off x="3449212" y="3701018"/>
            <a:ext cx="1627773" cy="4059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>
                <a:spLocks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sSup>
                      <m:s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blipFill>
                <a:blip r:embed="rId8"/>
                <a:stretch>
                  <a:fillRect l="-2899" t="-109375" b="-17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2" b="45331"/>
          <a:stretch/>
        </p:blipFill>
        <p:spPr>
          <a:xfrm>
            <a:off x="5670787" y="4127571"/>
            <a:ext cx="2158171" cy="3933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 +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blipFill>
                <a:blip r:embed="rId10"/>
                <a:stretch>
                  <a:fillRect l="-2336" t="-7813" r="-1869" b="-187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ko-KR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</m:e>
                        </m:rad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blipFill>
                <a:blip r:embed="rId11"/>
                <a:stretch>
                  <a:fillRect l="-5682" t="-9184" r="-45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8" t="11047"/>
          <a:stretch/>
        </p:blipFill>
        <p:spPr>
          <a:xfrm>
            <a:off x="3841501" y="4827418"/>
            <a:ext cx="1116181" cy="612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>
                    <a:solidFill>
                      <a:schemeClr val="bg1"/>
                    </a:solidFill>
                  </a:rPr>
                  <a:t> </a:t>
                </a:r>
                <a:r>
                  <a:rPr lang="en-US" altLang="ko-KR" dirty="0" smtClean="0">
                    <a:solidFill>
                      <a:schemeClr val="bg1"/>
                    </a:solidFill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blipFill>
                <a:blip r:embed="rId13"/>
                <a:stretch>
                  <a:fillRect t="-28889" r="-660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14" b="28594"/>
          <a:stretch/>
        </p:blipFill>
        <p:spPr>
          <a:xfrm>
            <a:off x="7282119" y="332045"/>
            <a:ext cx="1469263" cy="26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512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298317" y="168076"/>
            <a:ext cx="3837315" cy="3200484"/>
            <a:chOff x="3258841" y="717536"/>
            <a:chExt cx="3837315" cy="32004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58841" y="717536"/>
              <a:ext cx="3837315" cy="320048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/>
                <p:cNvSpPr/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토큰의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임베딩 벡터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p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직사각형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blipFill>
                  <a:blip r:embed="rId3"/>
                  <a:stretch>
                    <a:fillRect t="-8197" b="-819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/>
                <p:cNvSpPr/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쿼리 벡터는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 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p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을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합성곱한  벡터</a:t>
                  </a:r>
                  <a:r>
                    <a:rPr lang="en-US" altLang="ko-KR" sz="600" b="1" dirty="0">
                      <a:solidFill>
                        <a:schemeClr val="tx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입니다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직사각형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직사각형 9"/>
                <p:cNvSpPr/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X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곱해 값 행령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V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얻는다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직사각형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/>
            <p:cNvSpPr/>
            <p:nvPr/>
          </p:nvSpPr>
          <p:spPr>
            <a:xfrm>
              <a:off x="3258841" y="1955914"/>
              <a:ext cx="923616" cy="4346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 행렬은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각각의 입력 쌍에 대한 어텐션 점수를 담고 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396700" y="2703607"/>
              <a:ext cx="699456" cy="5029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두 번째 입력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토큰에 대한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 문맥 벡터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그룹 16"/>
          <p:cNvGrpSpPr/>
          <p:nvPr/>
        </p:nvGrpSpPr>
        <p:grpSpPr>
          <a:xfrm>
            <a:off x="5066994" y="129603"/>
            <a:ext cx="3772000" cy="1883278"/>
            <a:chOff x="5066994" y="129603"/>
            <a:chExt cx="3772000" cy="1883278"/>
          </a:xfrm>
        </p:grpSpPr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66994" y="129603"/>
              <a:ext cx="3771999" cy="1883278"/>
            </a:xfrm>
            <a:prstGeom prst="rect">
              <a:avLst/>
            </a:prstGeom>
          </p:spPr>
        </p:pic>
        <p:sp>
          <p:nvSpPr>
            <p:cNvPr id="15" name="직사각형 14"/>
            <p:cNvSpPr/>
            <p:nvPr/>
          </p:nvSpPr>
          <p:spPr>
            <a:xfrm>
              <a:off x="5219205" y="1730975"/>
              <a:ext cx="1300507" cy="281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8274705" y="535537"/>
              <a:ext cx="564289" cy="9734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“Your” </a:t>
              </a: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다음에 등장하는 미래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err="1" smtClean="0">
                  <a:solidFill>
                    <a:schemeClr val="tx1"/>
                  </a:solidFill>
                </a:rPr>
                <a:t>마스킹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8" t="24275" r="1824" b="40808"/>
          <a:stretch/>
        </p:blipFill>
        <p:spPr>
          <a:xfrm>
            <a:off x="516541" y="4044147"/>
            <a:ext cx="4272555" cy="1198030"/>
          </a:xfrm>
          <a:prstGeom prst="rect">
            <a:avLst/>
          </a:prstGeom>
        </p:spPr>
      </p:pic>
      <p:grpSp>
        <p:nvGrpSpPr>
          <p:cNvPr id="24" name="그룹 23"/>
          <p:cNvGrpSpPr/>
          <p:nvPr/>
        </p:nvGrpSpPr>
        <p:grpSpPr>
          <a:xfrm>
            <a:off x="5520470" y="2300345"/>
            <a:ext cx="3396432" cy="3216813"/>
            <a:chOff x="5520470" y="2300345"/>
            <a:chExt cx="3396432" cy="3216813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20470" y="2300345"/>
              <a:ext cx="3396432" cy="3216813"/>
            </a:xfrm>
            <a:prstGeom prst="rect">
              <a:avLst/>
            </a:prstGeom>
          </p:spPr>
        </p:pic>
        <p:sp>
          <p:nvSpPr>
            <p:cNvPr id="21" name="직사각형 20"/>
            <p:cNvSpPr/>
            <p:nvPr/>
          </p:nvSpPr>
          <p:spPr>
            <a:xfrm>
              <a:off x="5520470" y="3872092"/>
              <a:ext cx="1245270" cy="3718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7893363" y="3847446"/>
              <a:ext cx="945630" cy="5441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랜덤하게 삭제할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위치가 지정된 드롭아웃 마스트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7950770" y="4813415"/>
              <a:ext cx="888223" cy="5950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드롭아웃 마스크를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적용하여 특정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으로 만든다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411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67883" y="539330"/>
            <a:ext cx="4477375" cy="2476846"/>
            <a:chOff x="767883" y="539330"/>
            <a:chExt cx="4477375" cy="247684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7883" y="539330"/>
              <a:ext cx="4477375" cy="247684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933724" y="830552"/>
              <a:ext cx="912832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스칼라는 하나의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숫자입니다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21275" y="539330"/>
              <a:ext cx="1618570" cy="6147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원소가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3D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벡터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86135" y="562246"/>
              <a:ext cx="1145158" cy="5918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행과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열이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있는 행렬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33724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스칼라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093738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백터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369163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행렬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933724" y="2684379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0D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2093738" y="2693257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333652" y="2681602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74" y="2188356"/>
            <a:ext cx="3132396" cy="173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711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951478" y="883817"/>
            <a:ext cx="4039164" cy="2267266"/>
            <a:chOff x="951478" y="883817"/>
            <a:chExt cx="4039164" cy="226726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478" y="883817"/>
              <a:ext cx="4039164" cy="226726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951478" y="910451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효율적인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계산을 위한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텐서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배열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971060" y="910450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자동 미분 계산을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도구를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36101" y="2447767"/>
              <a:ext cx="1330083" cy="7033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딥러닝 도구들은 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라이브러리와 자동 미분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엔진을 활용한다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287262" y="1713390"/>
              <a:ext cx="1162975" cy="230820"/>
            </a:xfrm>
            <a:prstGeom prst="rect">
              <a:avLst/>
            </a:prstGeom>
            <a:solidFill>
              <a:srgbClr val="AC3B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텐서 라이브러리</a:t>
              </a:r>
              <a:endParaRPr lang="ko-KR" altLang="en-US" sz="800" b="1" dirty="0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971061" y="1677881"/>
              <a:ext cx="1198486" cy="301841"/>
            </a:xfrm>
            <a:prstGeom prst="rect">
              <a:avLst/>
            </a:prstGeom>
            <a:solidFill>
              <a:srgbClr val="7027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자동 미분 엔진</a:t>
              </a:r>
              <a:endParaRPr lang="ko-KR" altLang="en-US" sz="800" b="1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093652" y="2432238"/>
              <a:ext cx="1198486" cy="301841"/>
            </a:xfrm>
            <a:prstGeom prst="rect">
              <a:avLst/>
            </a:prstGeom>
            <a:solidFill>
              <a:srgbClr val="EE63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딥러닝 라이브러리</a:t>
              </a:r>
              <a:endParaRPr lang="ko-KR" altLang="en-US" sz="800" b="1" dirty="0"/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9" y="2295045"/>
            <a:ext cx="2850737" cy="158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353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178197" y="406440"/>
            <a:ext cx="7954485" cy="3972479"/>
            <a:chOff x="178197" y="406440"/>
            <a:chExt cx="7954485" cy="3972479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197" y="406440"/>
              <a:ext cx="7954485" cy="3972479"/>
            </a:xfrm>
            <a:prstGeom prst="rect">
              <a:avLst/>
            </a:prstGeom>
          </p:spPr>
        </p:pic>
        <p:grpSp>
          <p:nvGrpSpPr>
            <p:cNvPr id="18" name="그룹 17"/>
            <p:cNvGrpSpPr/>
            <p:nvPr/>
          </p:nvGrpSpPr>
          <p:grpSpPr>
            <a:xfrm>
              <a:off x="3834418" y="1148121"/>
              <a:ext cx="4215765" cy="3230798"/>
              <a:chOff x="3834418" y="1148121"/>
              <a:chExt cx="4215765" cy="3230798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6720100" y="1408290"/>
                <a:ext cx="1330083" cy="6135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지도</a:t>
                </a:r>
                <a:r>
                  <a:rPr lang="en-US" altLang="ko-KR" sz="800" b="1" dirty="0" smtClean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학습에서는 레이블된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데이터셋으로 모델을 훈련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직사각형 6"/>
              <p:cNvSpPr/>
              <p:nvPr/>
            </p:nvSpPr>
            <p:spPr>
              <a:xfrm>
                <a:off x="3854981" y="1452881"/>
                <a:ext cx="940539" cy="17271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/>
                  <a:t>훈련 데이터 셋</a:t>
                </a:r>
                <a:endParaRPr lang="ko-KR" altLang="en-US" sz="800" dirty="0"/>
              </a:p>
            </p:txBody>
          </p:sp>
          <p:sp>
            <p:nvSpPr>
              <p:cNvPr id="9" name="직사각형 8"/>
              <p:cNvSpPr/>
              <p:nvPr/>
            </p:nvSpPr>
            <p:spPr>
              <a:xfrm>
                <a:off x="5181601" y="184912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모델과</a:t>
                </a:r>
                <a:endParaRPr lang="en-US" altLang="ko-KR" sz="800" dirty="0" smtClean="0">
                  <a:latin typeface="+mj-lt"/>
                </a:endParaRPr>
              </a:p>
              <a:p>
                <a:pPr algn="ctr"/>
                <a:r>
                  <a:rPr lang="ko-KR" altLang="en-US" sz="800" dirty="0" smtClean="0">
                    <a:latin typeface="+mj-lt"/>
                  </a:rPr>
                  <a:t>학습 알고리즘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0" name="직사각형 9"/>
              <p:cNvSpPr/>
              <p:nvPr/>
            </p:nvSpPr>
            <p:spPr>
              <a:xfrm>
                <a:off x="5191762" y="283970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훈련된 모델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3919592" y="1727202"/>
                <a:ext cx="632088" cy="13208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2" name="직사각형 11"/>
              <p:cNvSpPr/>
              <p:nvPr/>
            </p:nvSpPr>
            <p:spPr>
              <a:xfrm>
                <a:off x="4312578" y="1915160"/>
                <a:ext cx="468000" cy="1981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3834418" y="291082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새로운 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6620502" y="291588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예측된 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5" name="직사각형 14"/>
              <p:cNvSpPr/>
              <p:nvPr/>
            </p:nvSpPr>
            <p:spPr>
              <a:xfrm>
                <a:off x="5290419" y="3948231"/>
                <a:ext cx="2338083" cy="4306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모델이 훈련되고 나면 이를 사용해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새로운 데이터의 레이블을 예측할 수 있다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129377" y="3334680"/>
                <a:ext cx="1330083" cy="34323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추론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4970849" y="1148121"/>
                <a:ext cx="1330083" cy="343239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훈련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</p:grpSp>
      </p:grp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0" t="15313"/>
          <a:stretch/>
        </p:blipFill>
        <p:spPr>
          <a:xfrm>
            <a:off x="6461759" y="1188720"/>
            <a:ext cx="3248502" cy="235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47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5" y="308084"/>
            <a:ext cx="5801535" cy="261974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직사각형 4"/>
          <p:cNvSpPr/>
          <p:nvPr/>
        </p:nvSpPr>
        <p:spPr>
          <a:xfrm>
            <a:off x="724107" y="417249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743994" y="417248"/>
            <a:ext cx="2603540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29585" y="2927825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지시는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을 위한 입력 역할을 한다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151573" y="2927825"/>
            <a:ext cx="3195961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응답을 생성하는 것이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의 목표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517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55" y="0"/>
            <a:ext cx="7659169" cy="345805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76654" y="3099489"/>
            <a:ext cx="2569745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입력 텍스트에 해당하는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76346" y="112449"/>
            <a:ext cx="3045253" cy="365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손실을 계산할 때 지시 토큰을 </a:t>
            </a:r>
            <a:r>
              <a:rPr lang="ko-KR" altLang="en-US" sz="1000" b="1" dirty="0" err="1" smtClean="0">
                <a:solidFill>
                  <a:schemeClr val="tx1"/>
                </a:solidFill>
              </a:rPr>
              <a:t>마스킹합니다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206239" y="3099488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 토큰을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바꿉니다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266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687" y="386677"/>
            <a:ext cx="7563906" cy="281979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021114" y="2693088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첫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번째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종료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토큰은 바꾸지 않는다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71754" y="2693087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첫 번째를 제외한 모든 종료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토큰을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 변경한다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2017653"/>
            <a:ext cx="4913802" cy="183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15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39" y="276155"/>
            <a:ext cx="5601482" cy="5553850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176987" y="276155"/>
            <a:ext cx="2427466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 벡터는 첫 번째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를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포함하지 않습니다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54480" y="2877115"/>
            <a:ext cx="2692400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 있는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는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와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같지만 안 위치씩 이동되어 있습니다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433517" y="2613872"/>
            <a:ext cx="2614104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972560" y="5557520"/>
            <a:ext cx="2981742" cy="272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타깃에는 항상 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645" y="639838"/>
            <a:ext cx="3641762" cy="36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732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51007" y="0"/>
            <a:ext cx="7563906" cy="5001323"/>
            <a:chOff x="851007" y="0"/>
            <a:chExt cx="7563906" cy="500132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1007" y="0"/>
              <a:ext cx="7563906" cy="5001323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02666" y="407089"/>
              <a:ext cx="3329733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번째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샘플에 해당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70324" y="158514"/>
              <a:ext cx="3179595" cy="420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배치에 있는 모든 샘플의 길이가 같아지도록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153867" y="2704206"/>
              <a:ext cx="3096052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50256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패딩 토큰으로 사용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51007" y="2032689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51007" y="4494012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929423"/>
            <a:ext cx="4913802" cy="324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817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837276" y="515386"/>
            <a:ext cx="6611273" cy="4353533"/>
            <a:chOff x="837276" y="515386"/>
            <a:chExt cx="6611273" cy="435353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76" y="515386"/>
              <a:ext cx="6611273" cy="4353533"/>
            </a:xfrm>
            <a:prstGeom prst="rect">
              <a:avLst/>
            </a:prstGeom>
            <a:solidFill>
              <a:srgbClr val="B9E2FB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837276" y="1890941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데이테셋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837276" y="3216680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837276" y="4542419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528854" y="643234"/>
              <a:ext cx="4847306" cy="8956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모델을 미세 튜닝하기 위해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사용할 데이터 셋을 다운로드 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조사하고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준비한다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5633192" y="4269088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9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4082251" y="1597286"/>
              <a:ext cx="1044000" cy="52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배치 데이터 만들기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5635648" y="159728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로드 만들기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2528854" y="2945611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075943" y="294334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지시  미세튜닝하기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/>
            <p:cNvSpPr/>
            <p:nvPr/>
          </p:nvSpPr>
          <p:spPr>
            <a:xfrm>
              <a:off x="5635648" y="292302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모델링 손실 조사하기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/>
            <p:cNvSpPr/>
            <p:nvPr/>
          </p:nvSpPr>
          <p:spPr>
            <a:xfrm>
              <a:off x="2528854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       추출하기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/>
            <p:cNvSpPr/>
            <p:nvPr/>
          </p:nvSpPr>
          <p:spPr>
            <a:xfrm>
              <a:off x="4075943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품질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/>
            <p:cNvSpPr/>
            <p:nvPr/>
          </p:nvSpPr>
          <p:spPr>
            <a:xfrm>
              <a:off x="2508534" y="1597287"/>
              <a:ext cx="1044000" cy="522000"/>
            </a:xfrm>
            <a:prstGeom prst="roundRect">
              <a:avLst/>
            </a:prstGeom>
            <a:solidFill>
              <a:srgbClr val="BBE7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다운로드와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전처리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marL="228600" indent="-228600">
                <a:buAutoNum type="arabicParenR"/>
              </a:pP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6579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1126267" y="415005"/>
            <a:ext cx="7744906" cy="4077269"/>
            <a:chOff x="1126267" y="415005"/>
            <a:chExt cx="7744906" cy="407726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6267" y="415005"/>
              <a:ext cx="7744906" cy="407726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30401" y="1048225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데이터셋의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플 포멧팅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957320" y="539448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프롬프트 템플릿을 사용해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포맷팅 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177281" y="1048224"/>
              <a:ext cx="1178559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포멧팅된 샘플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토큰화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25360" y="731615"/>
              <a:ext cx="1515332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입력으로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받을 토큰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704" y="1389711"/>
            <a:ext cx="5032684" cy="265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787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888849" y="304712"/>
            <a:ext cx="6716062" cy="5801535"/>
            <a:chOff x="888849" y="304712"/>
            <a:chExt cx="6716062" cy="580153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8849" y="304712"/>
              <a:ext cx="6716062" cy="5801535"/>
            </a:xfrm>
            <a:prstGeom prst="rect">
              <a:avLst/>
            </a:prstGeom>
          </p:spPr>
        </p:pic>
        <p:sp>
          <p:nvSpPr>
            <p:cNvPr id="5" name="모서리가 둥근 직사각형 4"/>
            <p:cNvSpPr/>
            <p:nvPr/>
          </p:nvSpPr>
          <p:spPr>
            <a:xfrm>
              <a:off x="1005840" y="518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프롬프트        템플릿을 사용해    데이터 포멧팅하기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/>
            <p:cNvSpPr/>
            <p:nvPr/>
          </p:nvSpPr>
          <p:spPr>
            <a:xfrm>
              <a:off x="1005840" y="4074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2.4)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훈련을 위해    타깃 토큰 </a:t>
              </a:r>
              <a:r>
                <a:rPr lang="en-US" altLang="ko-KR" sz="9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만들기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/>
            <p:cNvSpPr/>
            <p:nvPr/>
          </p:nvSpPr>
          <p:spPr>
            <a:xfrm>
              <a:off x="1005840" y="290317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2.3)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사용해 동일한       길이로 맞추기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1005840" y="525788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2.5)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플레이스홀더        토큰으로 바꾸기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/>
            <p:cNvSpPr/>
            <p:nvPr/>
          </p:nvSpPr>
          <p:spPr>
            <a:xfrm>
              <a:off x="1005840" y="1719623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포멧팅된        데이터 토큰화하기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4490720" y="1110023"/>
              <a:ext cx="246888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템플릿으로 포맷팅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5029200" y="1747520"/>
              <a:ext cx="2575711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샘플을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4673600" y="2857631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샘플이 동일한 길이가 되도록 텍스트 종료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(50526)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으로 패딩 추가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4912209" y="3926883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학습하기 위해 타깃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리스트를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입력에서 한 토큰씩 이동한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후에 패딩 토큰을 추가하여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815840" y="5257887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손실 계산에서 제외하기 위해 패딩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-100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변경한다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814" y="527052"/>
            <a:ext cx="4366943" cy="37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36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48736" y="513849"/>
            <a:ext cx="7535327" cy="2619741"/>
            <a:chOff x="448736" y="513849"/>
            <a:chExt cx="7535327" cy="261974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8736" y="513849"/>
              <a:ext cx="7535327" cy="261974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9819" y="91440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입력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메시지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205099" y="6705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행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에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대한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62779" y="66548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출력을 소프트맥스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   확률로 변경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73421" y="7467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예측된 레이블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668621" y="2504440"/>
              <a:ext cx="2315442" cy="629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2. Argmax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통해 각 행 벡터에서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가정 높은 확률 값을 가진 인덱스를 찾는다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460048" y="224536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인덱스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: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345" y="2118246"/>
            <a:ext cx="5274716" cy="18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204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141423" y="353216"/>
            <a:ext cx="3581900" cy="4553585"/>
            <a:chOff x="4305050" y="1152207"/>
            <a:chExt cx="3581900" cy="455358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5050" y="1152207"/>
              <a:ext cx="3581900" cy="4553585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088566" y="1152207"/>
              <a:ext cx="2798384" cy="6588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코잘 어텐션 마스크로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토큰을 마스킹한다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308992" y="5108467"/>
              <a:ext cx="2784266" cy="597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토큰이 다른 모든 토큰과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어텐션 점수를 만드는 유일한 토큰이다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1427" y="1151946"/>
            <a:ext cx="2526402" cy="318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586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657128" y="349007"/>
            <a:ext cx="6687483" cy="2591162"/>
            <a:chOff x="657128" y="349007"/>
            <a:chExt cx="6687483" cy="2591162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7128" y="349007"/>
              <a:ext cx="6687483" cy="2591162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57129" y="836827"/>
              <a:ext cx="949730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지시문 추가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582539" y="1433111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입력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28065" y="1433110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7639" y="349007"/>
            <a:ext cx="4702862" cy="1813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92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1359704" y="115823"/>
            <a:ext cx="8078936" cy="6624727"/>
            <a:chOff x="1359704" y="115823"/>
            <a:chExt cx="8078936" cy="662472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9704" y="115823"/>
              <a:ext cx="8078936" cy="6624727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247436" y="112268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선형 출력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267756" y="145796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67756" y="220937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247436" y="254465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피드 포워드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247436" y="287993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267756" y="3521037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247436" y="4337736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267756" y="3846156"/>
              <a:ext cx="812244" cy="305819"/>
            </a:xfrm>
            <a:prstGeom prst="rect">
              <a:avLst/>
            </a:prstGeom>
            <a:solidFill>
              <a:srgbClr val="6361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마스크 멀티 </a:t>
              </a:r>
              <a:endParaRPr lang="en-US" altLang="ko-KR" sz="800" b="1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헤드 어텐션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267756" y="4832695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074716" y="517695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위치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4079796" y="555592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4328716" y="6007194"/>
              <a:ext cx="730964" cy="1461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텍스트 토큰화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1433116" y="2029379"/>
              <a:ext cx="1645364" cy="1030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장에서 구현하고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이전 절에서 로드한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GPT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6342688" y="4917440"/>
              <a:ext cx="282163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 은닉 유닛을 단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유닛에 매핑하는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층으로 원본 선형 출력 층을 바꾼다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클래스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(‘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’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 아님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을 나타낸다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6617008" y="1945635"/>
              <a:ext cx="264891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원본 선형 출력 층은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은닉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유닛을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어휘사전의 토큰 수인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유닛에 매핑한다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4" name="그림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051" y="115537"/>
            <a:ext cx="5250635" cy="430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64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457756" y="92178"/>
            <a:ext cx="5668167" cy="3077004"/>
            <a:chOff x="457756" y="92178"/>
            <a:chExt cx="5668167" cy="307700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757" y="92178"/>
              <a:ext cx="5668166" cy="307700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57756" y="1630680"/>
              <a:ext cx="235656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포함하지 않은 모델의 입력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90546" y="1234991"/>
              <a:ext cx="2232733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모델은 두 종류의 응답인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 아님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＇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만 출력 할 수 있다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776" y="1889626"/>
            <a:ext cx="3998713" cy="215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182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/>
          <p:cNvGrpSpPr/>
          <p:nvPr/>
        </p:nvGrpSpPr>
        <p:grpSpPr>
          <a:xfrm>
            <a:off x="493876" y="403293"/>
            <a:ext cx="6754168" cy="3572374"/>
            <a:chOff x="493876" y="403293"/>
            <a:chExt cx="6754168" cy="357237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876" y="403293"/>
              <a:ext cx="6754168" cy="3572374"/>
            </a:xfrm>
            <a:prstGeom prst="rect">
              <a:avLst/>
            </a:prstGeom>
            <a:solidFill>
              <a:srgbClr val="B9E1FE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493877" y="1336591"/>
              <a:ext cx="1538124" cy="10510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튜닝에 사용할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다운로드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후 검사 및 준비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32001" y="802640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194560" y="154841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다운로드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194560" y="2320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194559" y="3082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023358" y="192956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023358" y="116642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023358" y="269269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위한 모델 수정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017161" y="342535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 유틸리티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5917081" y="1517097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5917081" y="231634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9)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917080" y="3069318"/>
              <a:ext cx="1148083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10)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새 데이터에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사용하기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3856837" y="763433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설정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5805321" y="7929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활용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1" name="그림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185" y="1642717"/>
            <a:ext cx="4758340" cy="25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441" y="273790"/>
            <a:ext cx="7582959" cy="3038899"/>
            <a:chOff x="394441" y="273790"/>
            <a:chExt cx="7582959" cy="303889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441" y="273790"/>
              <a:ext cx="7582958" cy="303889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9444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93876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텍스트를 토큰화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310360" y="273791"/>
              <a:ext cx="1371599" cy="4804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시퀸스에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맞춰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741119" y="33743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3.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패딩된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592042" y="1413786"/>
              <a:ext cx="1385358" cy="4962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패딩 토큰으로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5026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592042" y="2593335"/>
              <a:ext cx="1385357" cy="7193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메시지이기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때문에 마지막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샘플에는 패딩이  없다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381481" y="1626867"/>
              <a:ext cx="1099079" cy="283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912" y="1910964"/>
            <a:ext cx="5313125" cy="212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72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4720" y="404475"/>
            <a:ext cx="6620799" cy="4829849"/>
            <a:chOff x="824720" y="404475"/>
            <a:chExt cx="6620799" cy="482984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4720" y="404475"/>
              <a:ext cx="6620799" cy="482984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804879" y="90639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원본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06000" y="477735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배치는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훈련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샘플로 구성된다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18720" y="589734"/>
              <a:ext cx="1745760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텍스트 메시지는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120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토큰까지 패딩된다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734799" y="4777351"/>
              <a:ext cx="2629681" cy="456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항목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행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원본 텍스트 메시지에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719200" y="404475"/>
              <a:ext cx="1726319" cy="6826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 배열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“spam”,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“ham”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892800" y="4757030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 훈련 샘플의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586" y="1008679"/>
            <a:ext cx="4634581" cy="338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95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523374"/>
            <a:ext cx="6611273" cy="385816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187157" y="3722069"/>
            <a:ext cx="5308773" cy="659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답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토큰이 아닌 위치에 </a:t>
            </a:r>
            <a:r>
              <a:rPr lang="en-US" altLang="ko-KR" sz="800" b="1" dirty="0" smtClean="0">
                <a:solidFill>
                  <a:schemeClr val="tx1"/>
                </a:solidFill>
              </a:rPr>
              <a:t>0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확률을 할당하여 항상 다음 코튼을 탑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 중에서 샘플링되도록 한다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357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340387" y="200738"/>
            <a:ext cx="7516274" cy="3686689"/>
            <a:chOff x="446919" y="440435"/>
            <a:chExt cx="7516274" cy="368668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6919" y="440435"/>
              <a:ext cx="7516274" cy="368668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6920" y="2722924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입력 토큰을 받아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   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859948" y="3467656"/>
              <a:ext cx="2658785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모델이 출력한 벡터에 있는 인덱스는 어휘사전에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한 단어에 대응한다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62116" y="440435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훈련하지 않은 모델은 각 토큰에 대해서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랜덤한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18524" y="2608066"/>
              <a:ext cx="2044669" cy="774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훈련의 목적은 타깃에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토큰의 인덱스에 해당하는 값을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최대화 하는 것 이다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904" y="530472"/>
            <a:ext cx="5283251" cy="25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64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309508" y="125656"/>
            <a:ext cx="5334744" cy="5611008"/>
            <a:chOff x="3418468" y="369496"/>
            <a:chExt cx="5334744" cy="561100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8468" y="369496"/>
              <a:ext cx="5334744" cy="56110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33024" y="389816"/>
              <a:ext cx="2388016" cy="5550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에포크 한 번은 훈련 세트를 한복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반복하는 것이다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37280" y="615146"/>
              <a:ext cx="166624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에포크를 반복한다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92880" y="1231170"/>
              <a:ext cx="201168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에포크마다 배치를 순회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715344" y="1005840"/>
              <a:ext cx="2037868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 횟수는 훈련 세트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크기를 각각의 배치 크기로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나눈 값으로 결정된다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582160" y="1897613"/>
              <a:ext cx="1764000" cy="34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이전 배치 반복에서 얻은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582160" y="2564056"/>
              <a:ext cx="173736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4)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현재 배치의 손실을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582160" y="323642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역전파를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통해 손실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608800" y="3909429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6)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손실 그레이디언트를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사용해 모델 가중치 업데이트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929120" y="2842902"/>
              <a:ext cx="1813932" cy="1210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파이토치에서 심층 신경망을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훈련하기 위해서 사용하는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일반적인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608800" y="456824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훈련 세트 손실과 검증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세트 손실을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3992880" y="5274617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분류 정확도를 계산한다</a:t>
              </a:r>
              <a:endParaRPr lang="en-US" altLang="ko-KR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901366" y="4488823"/>
              <a:ext cx="1851846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과정을 추적하기 위한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추가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770" y="624597"/>
            <a:ext cx="3734123" cy="39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6096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546186" y="260880"/>
            <a:ext cx="7868748" cy="5298279"/>
            <a:chOff x="2181946" y="840000"/>
            <a:chExt cx="7868748" cy="529827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81946" y="841640"/>
              <a:ext cx="7868748" cy="529663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667344" y="1960880"/>
              <a:ext cx="1585376" cy="579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많은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763104" y="5047058"/>
              <a:ext cx="1910496" cy="835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적은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검증을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83824" y="840000"/>
              <a:ext cx="158537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토큰화된 데이터셋의 첫 샘플 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832944" y="840000"/>
              <a:ext cx="174793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스트라이드를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으로 설정했을 때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8757712" y="2668800"/>
              <a:ext cx="1292982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최대 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데이터셋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을 처리한다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605104" y="3857520"/>
              <a:ext cx="136185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데이터셋의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8757712" y="5296959"/>
              <a:ext cx="1292982" cy="8413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데이터셋을 배치로 묶는다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배치 크기는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샘플을 랜덤하게 섞는다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8970864" y="1469920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 된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8757712" y="3349520"/>
              <a:ext cx="1117808" cy="286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샘플로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구성된 훈련 데이터셋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778032" y="4786339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배치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92" y="780058"/>
            <a:ext cx="5509433" cy="370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298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241" y="0"/>
            <a:ext cx="5896798" cy="3467584"/>
            <a:chOff x="2588801" y="862088"/>
            <a:chExt cx="5896798" cy="3467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8801" y="862088"/>
              <a:ext cx="5896798" cy="3467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814320" y="862088"/>
              <a:ext cx="2484072" cy="3672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537200" y="3147138"/>
              <a:ext cx="2118728" cy="7543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확률이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계산할 손실이다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905552" y="12293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로짓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905552" y="1713472"/>
              <a:ext cx="1371808" cy="2161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877588" y="2131544"/>
              <a:ext cx="1371808" cy="4186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타깃 토큰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877588" y="27520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로그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확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999508" y="3157704"/>
              <a:ext cx="1371808" cy="4389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2905552" y="3819616"/>
              <a:ext cx="1371808" cy="3845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971" y="183636"/>
            <a:ext cx="4126740" cy="242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658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19034" y="435024"/>
            <a:ext cx="7744906" cy="3715268"/>
            <a:chOff x="519034" y="435024"/>
            <a:chExt cx="7744906" cy="371526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9034" y="435024"/>
              <a:ext cx="7744906" cy="371526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64034" y="574528"/>
              <a:ext cx="2387865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어휘사전을 사용해 입력 텍스트를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매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723977" y="1366120"/>
              <a:ext cx="1818214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Softmax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사용해 각 입력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토큰에 대해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차원 확률 벡터를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얻는다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742792" y="1531615"/>
              <a:ext cx="1818214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각 벡터 행에서 </a:t>
              </a:r>
              <a:r>
                <a:rPr lang="en-US" altLang="ko-KR" sz="800" b="1" dirty="0" err="1" smtClean="0">
                  <a:solidFill>
                    <a:schemeClr val="tx1"/>
                  </a:solidFill>
                </a:rPr>
                <a:t>argmax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사용해 가장 큰 확률 값을 가진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찾는다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291510" y="3539448"/>
              <a:ext cx="2452342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가장 높은 확률을 가진 인덱스를 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예측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88086" y="1639627"/>
              <a:ext cx="1234982" cy="668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역어휘 사전을 통해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텍스트로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다시 매핑한다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656" y="1569560"/>
            <a:ext cx="5424082" cy="2603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5169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61585" y="210544"/>
            <a:ext cx="5582429" cy="4963219"/>
            <a:chOff x="1866603" y="370342"/>
            <a:chExt cx="5582429" cy="496321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66603" y="370343"/>
              <a:ext cx="5582429" cy="496321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185833" y="370343"/>
              <a:ext cx="1031060" cy="2977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96012" y="370342"/>
              <a:ext cx="1198256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연결이 있는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866603" y="4517694"/>
              <a:ext cx="1319230" cy="5780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매우 깊은 신경망에서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앞쪽 층의 기울기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값이 매우 작아진다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16892" y="4971934"/>
              <a:ext cx="2352583" cy="3616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 앞쪽 층에서 비교적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큰 기울기 값을 유지하도록 돕는다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427433" y="3755694"/>
              <a:ext cx="1021599" cy="62099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값을 층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출력에 더한다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60" y="923327"/>
            <a:ext cx="3956037" cy="35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15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736146" y="275109"/>
            <a:ext cx="5725326" cy="5077534"/>
            <a:chOff x="2585266" y="295429"/>
            <a:chExt cx="5725326" cy="507753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5267" y="295429"/>
              <a:ext cx="5725324" cy="507753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610916" y="295429"/>
              <a:ext cx="2077146" cy="6278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얼마나 잘 텍스트를 생성했는지 계산하는 함수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702217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973204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288578" y="1178212"/>
              <a:ext cx="1399483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및 검증 손실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812152" y="2226492"/>
              <a:ext cx="1153642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785517" y="3091519"/>
              <a:ext cx="1224000" cy="349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생성 전략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776973" y="3840380"/>
              <a:ext cx="1224000" cy="4445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저장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및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812152" y="4666958"/>
              <a:ext cx="1188821" cy="545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7)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가중치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2585267" y="2646922"/>
              <a:ext cx="1946093" cy="5433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사람이 쓴 것 같은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생성하는 모델을 훈련한다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6364498" y="2834196"/>
              <a:ext cx="1946093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데이터가 그대로 출력되지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않도록 추가적인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 전략을 구현한다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2585266" y="3916252"/>
              <a:ext cx="1742894" cy="8995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나중에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사용하고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훈련을 이어서 할 수 있도록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가중치를 저장하고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로드하는 함수를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364498" y="4159186"/>
              <a:ext cx="1946094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사전 훈련된 가중치를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이전 장에서 구현한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046" y="428729"/>
            <a:ext cx="4037121" cy="355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35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639221" y="202628"/>
            <a:ext cx="7763958" cy="3648584"/>
            <a:chOff x="639221" y="202628"/>
            <a:chExt cx="7763958" cy="3648584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9221" y="202628"/>
              <a:ext cx="7763958" cy="3648584"/>
            </a:xfrm>
            <a:prstGeom prst="rect">
              <a:avLst/>
            </a:prstGeom>
          </p:spPr>
        </p:pic>
        <p:sp>
          <p:nvSpPr>
            <p:cNvPr id="6" name="직사각형 5"/>
            <p:cNvSpPr/>
            <p:nvPr/>
          </p:nvSpPr>
          <p:spPr>
            <a:xfrm>
              <a:off x="1365416" y="2305972"/>
              <a:ext cx="2434424" cy="396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토큰나이저를 사용해 입력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인코딩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39221" y="959026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입력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에 대해 모델은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로짓 벡터를 생성한다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각 벡터는 어휘사전 크기에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열을 가진다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790341" y="1393913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로짓을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변환한 후에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토크나이저를 사용해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디코딩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341" y="2264984"/>
            <a:ext cx="5462489" cy="255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473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/>
          <p:cNvGrpSpPr/>
          <p:nvPr/>
        </p:nvGrpSpPr>
        <p:grpSpPr>
          <a:xfrm>
            <a:off x="606841" y="400815"/>
            <a:ext cx="2756400" cy="2721500"/>
            <a:chOff x="606841" y="400815"/>
            <a:chExt cx="2756400" cy="27215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4526" y="400815"/>
              <a:ext cx="2748715" cy="27215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53985" y="637740"/>
              <a:ext cx="990154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다음에 생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성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될 토큰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200897" y="435393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모델의 입력 문맥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14526" y="1070608"/>
              <a:ext cx="51502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첫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339788" y="1070607"/>
              <a:ext cx="102345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이전 라운드에서 생성된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토큰이 다음 반복을 위해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입력에 추가된다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606842" y="1620033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>
                  <a:solidFill>
                    <a:schemeClr val="tx1"/>
                  </a:solidFill>
                </a:rPr>
                <a:t>두</a:t>
              </a:r>
              <a:r>
                <a:rPr lang="ko-KR" altLang="en-US" sz="600" b="1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06842" y="2169458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세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06841" y="2805952"/>
              <a:ext cx="594056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smtClean="0">
                  <a:solidFill>
                    <a:schemeClr val="tx1"/>
                  </a:solidFill>
                </a:rPr>
                <a:t>여섯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530608" y="1631577"/>
              <a:ext cx="83263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반복마다 입력 문맥이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성장한다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4326209" y="374881"/>
            <a:ext cx="4653765" cy="2683399"/>
            <a:chOff x="4326209" y="374881"/>
            <a:chExt cx="4653765" cy="2683399"/>
          </a:xfrm>
        </p:grpSpPr>
        <p:pic>
          <p:nvPicPr>
            <p:cNvPr id="15" name="그림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6209" y="374881"/>
              <a:ext cx="4653765" cy="2683399"/>
            </a:xfrm>
            <a:prstGeom prst="rect">
              <a:avLst/>
            </a:prstGeom>
          </p:spPr>
        </p:pic>
        <p:sp>
          <p:nvSpPr>
            <p:cNvPr id="16" name="직사각형 15"/>
            <p:cNvSpPr/>
            <p:nvPr/>
          </p:nvSpPr>
          <p:spPr>
            <a:xfrm>
              <a:off x="4326209" y="637740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입력을 토큰</a:t>
              </a:r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인코딩한다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54050" y="435393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2.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모델은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4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개의 벡터와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각 벡터가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차원으로 구성된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행렬을 반환한다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7520205" y="890068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모델이 생성할 다음 토큰에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해당하는 마지막 벡터를 추출한다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7776339" y="1648884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4.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소프트맥스 함수를 사용해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로짓을 확률분포로 변환한다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7725112" y="2164071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값의 인덱스 위치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(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찾는다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7174521" y="2679258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원소의 위치가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257 </a:t>
              </a:r>
              <a:endParaRPr lang="en-US" altLang="ko-KR" sz="600" b="1" dirty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이라면 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얻는다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409756" y="2904565"/>
              <a:ext cx="1203635" cy="153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‘a’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디코딩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4753953" y="2461416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6.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다음 라운드를 위해 이 토큰을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이전 입력에 추가한다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9709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8" y="297742"/>
            <a:ext cx="3901032" cy="3914368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5354766" y="783085"/>
            <a:ext cx="3342004" cy="3570608"/>
            <a:chOff x="5354766" y="783085"/>
            <a:chExt cx="3342004" cy="3570608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4767" y="783085"/>
              <a:ext cx="3342002" cy="3570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625328" y="783085"/>
              <a:ext cx="1071441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 행이 모델이 생성하려는 단어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(“forward”)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나타내도록  임베딩을 텍스트로 변환하는 것이 목표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693204" y="1523314"/>
              <a:ext cx="1003566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선형 층은 각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백터를 어휘사전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크기인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임베딩으로 변환한다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693204" y="3106225"/>
              <a:ext cx="1003565" cy="6743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GTP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구현은 토큰 임베딩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층과 위이 임베딩 층을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포함한다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354766" y="2842703"/>
              <a:ext cx="824202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트렌스포머 블록은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12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 반복됩니다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354766" y="812459"/>
              <a:ext cx="938457" cy="346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600" b="1" dirty="0" smtClean="0">
                  <a:solidFill>
                    <a:schemeClr val="tx1"/>
                  </a:solidFill>
                </a:rPr>
                <a:t>4*50,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 텐서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83087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887" y="304122"/>
            <a:ext cx="5820587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658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777" y="170268"/>
            <a:ext cx="5413783" cy="2918372"/>
            <a:chOff x="3171417" y="1785708"/>
            <a:chExt cx="5849166" cy="3286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71417" y="1785708"/>
              <a:ext cx="5849166" cy="3286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78883" y="2438400"/>
              <a:ext cx="1688237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>
                  <a:solidFill>
                    <a:schemeClr val="tx1"/>
                  </a:solidFill>
                </a:rPr>
                <a:t>층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정규화 적용하기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17283" y="188976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0.00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1.00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917282" y="272288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0.13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0.39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114666" y="2189480"/>
              <a:ext cx="905917" cy="797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되도록 정규화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25843" y="4185920"/>
              <a:ext cx="2194740" cy="457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층 입력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값이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하나의 훈련 샘플을 나타냅니다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171417" y="3261360"/>
              <a:ext cx="709703" cy="518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층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5766331" y="173203"/>
            <a:ext cx="5338549" cy="3514877"/>
            <a:chOff x="5766331" y="173203"/>
            <a:chExt cx="5963482" cy="4072643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31" y="173203"/>
              <a:ext cx="5963482" cy="4039164"/>
            </a:xfrm>
            <a:prstGeom prst="rect">
              <a:avLst/>
            </a:prstGeom>
          </p:spPr>
        </p:pic>
        <p:sp>
          <p:nvSpPr>
            <p:cNvPr id="13" name="직사각형 12"/>
            <p:cNvSpPr/>
            <p:nvPr/>
          </p:nvSpPr>
          <p:spPr>
            <a:xfrm>
              <a:off x="6612628" y="282983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dim=1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dim=-1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열 차원을 따라 평균을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행마다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270583" y="2463964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dim=0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행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차원을 따라 평균을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열마다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0311148" y="64374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18896" y="388478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5272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467414" y="351900"/>
            <a:ext cx="5702565" cy="4095812"/>
            <a:chOff x="3095206" y="1328444"/>
            <a:chExt cx="6001588" cy="420111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5206" y="1328444"/>
              <a:ext cx="6001588" cy="420111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930758" y="2206683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줄이는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30758" y="3728586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늘이는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>
                  <a:solidFill>
                    <a:schemeClr val="tx1"/>
                  </a:solidFill>
                </a:rPr>
                <a:t>첫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272113" y="4742120"/>
              <a:ext cx="3188306" cy="7874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각각의 차원은 배치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(2),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개수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(3),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(768)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540968" y="2318518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540968" y="3939861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471426" y="3131121"/>
              <a:ext cx="1180473" cy="2779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GELU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활성화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454" y="351900"/>
            <a:ext cx="4275191" cy="30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825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492345" y="326470"/>
            <a:ext cx="5944430" cy="3400900"/>
            <a:chOff x="736185" y="509350"/>
            <a:chExt cx="5944430" cy="34009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6185" y="509350"/>
              <a:ext cx="5944430" cy="34009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98521" y="118507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798521" y="300371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497765" y="509350"/>
              <a:ext cx="218284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층은 네 배만큼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출력을 줄여 원래 차원으로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돌린다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026085" y="2794977"/>
              <a:ext cx="165452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 선형 층에서 입력을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네 배 더 큰 공간에 투영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454" y="326470"/>
            <a:ext cx="4485521" cy="25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1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18" y="166255"/>
            <a:ext cx="1990898" cy="171242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27" y="333940"/>
            <a:ext cx="4018372" cy="162597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02" y="2779057"/>
            <a:ext cx="5025044" cy="145680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889" y="2779057"/>
            <a:ext cx="4025022" cy="260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023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618" y="417251"/>
            <a:ext cx="4030010" cy="236912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963" y="579543"/>
            <a:ext cx="5044916" cy="20445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18" y="2902966"/>
            <a:ext cx="5998185" cy="3532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7271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64239" y="434071"/>
            <a:ext cx="3532273" cy="2190257"/>
            <a:chOff x="591670" y="1156447"/>
            <a:chExt cx="6275295" cy="4195483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576" t="27617" r="18013" b="16959"/>
            <a:stretch/>
          </p:blipFill>
          <p:spPr>
            <a:xfrm>
              <a:off x="591670" y="1156447"/>
              <a:ext cx="5432612" cy="380103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864" t="40523" r="24215" b="27581"/>
            <a:stretch/>
          </p:blipFill>
          <p:spPr>
            <a:xfrm>
              <a:off x="3953435" y="3297302"/>
              <a:ext cx="2913530" cy="2054628"/>
            </a:xfrm>
            <a:prstGeom prst="rect">
              <a:avLst/>
            </a:prstGeom>
          </p:spPr>
        </p:pic>
        <p:sp>
          <p:nvSpPr>
            <p:cNvPr id="4" name="오른쪽 화살표 3"/>
            <p:cNvSpPr/>
            <p:nvPr/>
          </p:nvSpPr>
          <p:spPr>
            <a:xfrm>
              <a:off x="3550023" y="3451412"/>
              <a:ext cx="313765" cy="105783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4416554" y="447045"/>
            <a:ext cx="3572355" cy="173839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2" t="18022" r="6115" b="44728"/>
          <a:stretch/>
        </p:blipFill>
        <p:spPr>
          <a:xfrm>
            <a:off x="5978454" y="3583792"/>
            <a:ext cx="3685930" cy="1278077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4" r="4271" b="37075"/>
          <a:stretch/>
        </p:blipFill>
        <p:spPr>
          <a:xfrm>
            <a:off x="643769" y="3297768"/>
            <a:ext cx="4186425" cy="215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90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612650" y="209300"/>
            <a:ext cx="10017536" cy="487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3265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3" t="21733" r="23767" b="5467"/>
          <a:stretch/>
        </p:blipFill>
        <p:spPr>
          <a:xfrm>
            <a:off x="502921" y="265177"/>
            <a:ext cx="3352799" cy="249782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00" t="23660" r="7647" b="25621"/>
          <a:stretch/>
        </p:blipFill>
        <p:spPr>
          <a:xfrm>
            <a:off x="4651248" y="265177"/>
            <a:ext cx="3538187" cy="174020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3" t="21333" r="12067" b="35467"/>
          <a:stretch/>
        </p:blipFill>
        <p:spPr>
          <a:xfrm>
            <a:off x="4651248" y="2258568"/>
            <a:ext cx="3573239" cy="17282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34" t="28533" r="16667" b="49200"/>
          <a:stretch/>
        </p:blipFill>
        <p:spPr>
          <a:xfrm>
            <a:off x="4651248" y="4239966"/>
            <a:ext cx="2213808" cy="76399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3" t="35733" r="31166" b="38001"/>
          <a:stretch/>
        </p:blipFill>
        <p:spPr>
          <a:xfrm>
            <a:off x="7278625" y="4239966"/>
            <a:ext cx="1495769" cy="90120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33" t="33066" r="34467" b="57334"/>
          <a:stretch/>
        </p:blipFill>
        <p:spPr>
          <a:xfrm>
            <a:off x="4651249" y="5257146"/>
            <a:ext cx="1132085" cy="49407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33" t="46000" r="27467" b="35466"/>
          <a:stretch/>
        </p:blipFill>
        <p:spPr>
          <a:xfrm>
            <a:off x="9142735" y="4239966"/>
            <a:ext cx="1308187" cy="63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410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3333" r="20074" b="9200"/>
          <a:stretch/>
        </p:blipFill>
        <p:spPr>
          <a:xfrm>
            <a:off x="237745" y="137160"/>
            <a:ext cx="1956029" cy="299742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34" t="19199" r="9767" b="23334"/>
          <a:stretch/>
        </p:blipFill>
        <p:spPr>
          <a:xfrm>
            <a:off x="2377440" y="137160"/>
            <a:ext cx="3741550" cy="19717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3" t="6666" r="17367" b="30134"/>
          <a:stretch/>
        </p:blipFill>
        <p:spPr>
          <a:xfrm>
            <a:off x="2377440" y="2240280"/>
            <a:ext cx="3375670" cy="21684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4653818"/>
            <a:ext cx="2624504" cy="6954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2656" y="114680"/>
            <a:ext cx="3315163" cy="183381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14" y="2286525"/>
            <a:ext cx="3343742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55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37867" r="20267" b="38399"/>
          <a:stretch/>
        </p:blipFill>
        <p:spPr>
          <a:xfrm>
            <a:off x="292609" y="256032"/>
            <a:ext cx="2625521" cy="81433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038" y="400519"/>
            <a:ext cx="3472347" cy="209579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4" t="3856" r="7366" b="24203"/>
          <a:stretch/>
        </p:blipFill>
        <p:spPr>
          <a:xfrm>
            <a:off x="557784" y="2660904"/>
            <a:ext cx="3997744" cy="246835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9" t="20262" r="4019" b="49019"/>
          <a:stretch/>
        </p:blipFill>
        <p:spPr>
          <a:xfrm>
            <a:off x="5743866" y="2841087"/>
            <a:ext cx="4273653" cy="105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322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4328</TotalTime>
  <Words>1642</Words>
  <Application>Microsoft Office PowerPoint</Application>
  <PresentationFormat>와이드스크린</PresentationFormat>
  <Paragraphs>408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136</cp:revision>
  <dcterms:created xsi:type="dcterms:W3CDTF">2025-09-23T04:54:35Z</dcterms:created>
  <dcterms:modified xsi:type="dcterms:W3CDTF">2025-11-02T01:48:05Z</dcterms:modified>
</cp:coreProperties>
</file>