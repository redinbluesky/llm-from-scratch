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302" r:id="rId4"/>
    <p:sldId id="299" r:id="rId5"/>
    <p:sldId id="301" r:id="rId6"/>
    <p:sldId id="300" r:id="rId7"/>
    <p:sldId id="298" r:id="rId8"/>
    <p:sldId id="296" r:id="rId9"/>
    <p:sldId id="297" r:id="rId10"/>
    <p:sldId id="288" r:id="rId11"/>
    <p:sldId id="295" r:id="rId12"/>
    <p:sldId id="294" r:id="rId13"/>
    <p:sldId id="293" r:id="rId14"/>
    <p:sldId id="292" r:id="rId15"/>
    <p:sldId id="289" r:id="rId16"/>
    <p:sldId id="291" r:id="rId17"/>
    <p:sldId id="290" r:id="rId18"/>
    <p:sldId id="287" r:id="rId19"/>
    <p:sldId id="286" r:id="rId20"/>
    <p:sldId id="280" r:id="rId21"/>
    <p:sldId id="285" r:id="rId22"/>
    <p:sldId id="281" r:id="rId23"/>
    <p:sldId id="282" r:id="rId24"/>
    <p:sldId id="283" r:id="rId25"/>
    <p:sldId id="284" r:id="rId26"/>
    <p:sldId id="279" r:id="rId27"/>
    <p:sldId id="275" r:id="rId28"/>
    <p:sldId id="278" r:id="rId29"/>
    <p:sldId id="277" r:id="rId30"/>
    <p:sldId id="276" r:id="rId31"/>
    <p:sldId id="274" r:id="rId32"/>
    <p:sldId id="269" r:id="rId33"/>
    <p:sldId id="272" r:id="rId34"/>
    <p:sldId id="273" r:id="rId35"/>
    <p:sldId id="271" r:id="rId36"/>
    <p:sldId id="270" r:id="rId37"/>
    <p:sldId id="265" r:id="rId38"/>
    <p:sldId id="266" r:id="rId39"/>
    <p:sldId id="267" r:id="rId40"/>
    <p:sldId id="268" r:id="rId41"/>
    <p:sldId id="257" r:id="rId42"/>
    <p:sldId id="258" r:id="rId43"/>
    <p:sldId id="259" r:id="rId44"/>
    <p:sldId id="260" r:id="rId45"/>
    <p:sldId id="261" r:id="rId46"/>
    <p:sldId id="262" r:id="rId47"/>
    <p:sldId id="263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5D5"/>
    <a:srgbClr val="5E5E5E"/>
    <a:srgbClr val="EE634C"/>
    <a:srgbClr val="7027C4"/>
    <a:srgbClr val="AC3B86"/>
    <a:srgbClr val="BBE7FF"/>
    <a:srgbClr val="B9E2FB"/>
    <a:srgbClr val="636168"/>
    <a:srgbClr val="B8E3F6"/>
    <a:srgbClr val="B9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75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13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01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89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64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62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097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04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46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34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04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D9246-440E-46C2-946E-50CD81230ED2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357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jpeg"/><Relationship Id="rId4" Type="http://schemas.openxmlformats.org/officeDocument/2006/relationships/image" Target="../media/image9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jpeg"/><Relationship Id="rId5" Type="http://schemas.openxmlformats.org/officeDocument/2006/relationships/image" Target="../media/image99.jpeg"/><Relationship Id="rId4" Type="http://schemas.openxmlformats.org/officeDocument/2006/relationships/image" Target="../media/image98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jpeg"/><Relationship Id="rId3" Type="http://schemas.openxmlformats.org/officeDocument/2006/relationships/image" Target="../media/image103.jpeg"/><Relationship Id="rId7" Type="http://schemas.openxmlformats.org/officeDocument/2006/relationships/image" Target="../media/image107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jpeg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7" Type="http://schemas.openxmlformats.org/officeDocument/2006/relationships/image" Target="../media/image114.png"/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8.jpeg"/><Relationship Id="rId4" Type="http://schemas.openxmlformats.org/officeDocument/2006/relationships/image" Target="../media/image1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49910" y="1430784"/>
                <a:ext cx="2673039" cy="617861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en-US" altLang="ko-KR" dirty="0" smtClean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d>
                          <m:d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en-US" altLang="ko-KR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altLang="ko-KR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0 ,  </m:t>
                                      </m:r>
                                      <m:r>
                                        <a:rPr lang="en-US" altLang="ko-KR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ko-KR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a:rPr lang="en-US" altLang="ko-K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en-US" altLang="ko-KR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≧0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  <m:r>
                                <a:rPr lang="en-US" altLang="ko-KR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       </m:t>
                              </m:r>
                              <m:r>
                                <a:rPr lang="en-US" altLang="ko-KR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10" y="1430784"/>
                <a:ext cx="2673039" cy="6178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/>
          <p:cNvGrpSpPr/>
          <p:nvPr/>
        </p:nvGrpSpPr>
        <p:grpSpPr>
          <a:xfrm>
            <a:off x="949910" y="2378850"/>
            <a:ext cx="5220071" cy="677814"/>
            <a:chOff x="949910" y="2378850"/>
            <a:chExt cx="5220071" cy="6778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949910" y="2378850"/>
                  <a:ext cx="1631280" cy="677814"/>
                </a:xfrm>
                <a:prstGeom prst="rect">
                  <a:avLst/>
                </a:prstGeom>
                <a:solidFill>
                  <a:schemeClr val="tx1"/>
                </a:solidFill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ko-KR"/>
                  </a:defPPr>
                  <a:lvl1pPr algn="r">
                    <a:defRPr>
                      <a:solidFill>
                        <a:schemeClr val="bg1"/>
                      </a:solidFill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ko-KR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𝑧𝑗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𝑧𝑗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910" y="2378850"/>
                  <a:ext cx="1631280" cy="677814"/>
                </a:xfrm>
                <a:prstGeom prst="rect">
                  <a:avLst/>
                </a:prstGeom>
                <a:blipFill>
                  <a:blip r:embed="rId4"/>
                  <a:stretch>
                    <a:fillRect b="-90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2936953" y="2378850"/>
                  <a:ext cx="3233028" cy="677814"/>
                </a:xfrm>
                <a:prstGeom prst="rect">
                  <a:avLst/>
                </a:prstGeom>
                <a:solidFill>
                  <a:schemeClr val="tx1"/>
                </a:solidFill>
              </p:spPr>
              <p:txBody>
                <a:bodyPr wrap="square" lIns="0" tIns="0" rIns="0" bIns="0" rtlCol="0">
                  <a:spAutoFit/>
                </a:bodyPr>
                <a:lstStyle>
                  <a:defPPr>
                    <a:defRPr lang="ko-KR"/>
                  </a:defPPr>
                  <a:lvl1pPr algn="r">
                    <a:defRPr>
                      <a:solidFill>
                        <a:schemeClr val="bg1"/>
                      </a:solidFill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ko-KR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altLang="ko-K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+...+</m:t>
                            </m:r>
                            <m:sSup>
                              <m:sSupPr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𝑧𝑗</m:t>
                                </m:r>
                              </m:sup>
                            </m:sSup>
                          </m:num>
                          <m:den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𝑧𝑗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953" y="2378850"/>
                  <a:ext cx="3233028" cy="677814"/>
                </a:xfrm>
                <a:prstGeom prst="rect">
                  <a:avLst/>
                </a:prstGeom>
                <a:blipFill>
                  <a:blip r:embed="rId5"/>
                  <a:stretch>
                    <a:fillRect b="-90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54010" y="3701018"/>
                <a:ext cx="1592359" cy="39260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 smtClean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µ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ko-KR" dirty="0" smtClean="0">
                    <a:solidFill>
                      <a:schemeClr val="bg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010" y="3701018"/>
                <a:ext cx="1592359" cy="392608"/>
              </a:xfrm>
              <a:prstGeom prst="rect">
                <a:avLst/>
              </a:prstGeom>
              <a:blipFill>
                <a:blip r:embed="rId6"/>
                <a:stretch>
                  <a:fillRect t="-107692" r="-21756" b="-17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0" b="44053"/>
          <a:stretch/>
        </p:blipFill>
        <p:spPr>
          <a:xfrm>
            <a:off x="3449212" y="3701018"/>
            <a:ext cx="1627773" cy="4059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>
                <a:spLocks/>
              </p:cNvSpPr>
              <p:nvPr/>
            </p:nvSpPr>
            <p:spPr>
              <a:xfrm>
                <a:off x="954010" y="4541676"/>
                <a:ext cx="2097882" cy="39260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ko-KR" dirty="0" smtClean="0">
                    <a:solidFill>
                      <a:schemeClr val="bg1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altLang="ko-KR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ko-KR" dirty="0" smtClean="0">
                    <a:solidFill>
                      <a:schemeClr val="bg1"/>
                    </a:solidFill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µ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p>
                      <m:sSup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010" y="4541676"/>
                <a:ext cx="2097882" cy="392608"/>
              </a:xfrm>
              <a:prstGeom prst="rect">
                <a:avLst/>
              </a:prstGeom>
              <a:blipFill>
                <a:blip r:embed="rId8"/>
                <a:stretch>
                  <a:fillRect l="-2899" t="-109375" b="-17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42" b="45331"/>
          <a:stretch/>
        </p:blipFill>
        <p:spPr>
          <a:xfrm>
            <a:off x="5670787" y="4127571"/>
            <a:ext cx="2158171" cy="3933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046970" y="295670"/>
                <a:ext cx="1308692" cy="392608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 smtClean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d>
                          <m:d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altLang="ko-KR" dirty="0" smtClean="0">
                    <a:solidFill>
                      <a:schemeClr val="bg1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 +</m:t>
                            </m:r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970" y="295670"/>
                <a:ext cx="1308692" cy="392608"/>
              </a:xfrm>
              <a:prstGeom prst="rect">
                <a:avLst/>
              </a:prstGeom>
              <a:blipFill>
                <a:blip r:embed="rId10"/>
                <a:stretch>
                  <a:fillRect l="-2336" t="-7813" r="-1869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81259" y="5316356"/>
                <a:ext cx="1075359" cy="596382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 smtClean="0">
                    <a:solidFill>
                      <a:schemeClr val="bg1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µ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ko-KR" alt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  <m:sup>
                                <m:r>
                                  <a:rPr lang="en-US" altLang="ko-KR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ko-KR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+ </m:t>
                            </m:r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</m:e>
                        </m:rad>
                      </m:den>
                    </m:f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259" y="5316356"/>
                <a:ext cx="1075359" cy="596382"/>
              </a:xfrm>
              <a:prstGeom prst="rect">
                <a:avLst/>
              </a:prstGeom>
              <a:blipFill>
                <a:blip r:embed="rId11"/>
                <a:stretch>
                  <a:fillRect l="-5682" t="-9184" r="-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8" t="11047"/>
          <a:stretch/>
        </p:blipFill>
        <p:spPr>
          <a:xfrm>
            <a:off x="3841501" y="4827418"/>
            <a:ext cx="1116181" cy="6128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286074" y="295670"/>
                <a:ext cx="1384097" cy="276999"/>
              </a:xfrm>
              <a:prstGeom prst="rect">
                <a:avLst/>
              </a:prstGeom>
              <a:solidFill>
                <a:schemeClr val="tx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 smtClean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 smtClean="0">
                    <a:solidFill>
                      <a:schemeClr val="bg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altLang="ko-KR" dirty="0" smtClean="0">
                    <a:solidFill>
                      <a:schemeClr val="bg1"/>
                    </a:solidFill>
                  </a:rPr>
                  <a:t>+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074" y="295670"/>
                <a:ext cx="1384097" cy="276999"/>
              </a:xfrm>
              <a:prstGeom prst="rect">
                <a:avLst/>
              </a:prstGeom>
              <a:blipFill>
                <a:blip r:embed="rId13"/>
                <a:stretch>
                  <a:fillRect t="-28889" r="-6608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14" b="28594"/>
          <a:stretch/>
        </p:blipFill>
        <p:spPr>
          <a:xfrm>
            <a:off x="7282119" y="332045"/>
            <a:ext cx="1469263" cy="26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512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298317" y="168076"/>
            <a:ext cx="3837315" cy="3200484"/>
            <a:chOff x="3258841" y="717536"/>
            <a:chExt cx="3837315" cy="320048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58841" y="717536"/>
              <a:ext cx="3837315" cy="320048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직사각형 5"/>
                <p:cNvSpPr/>
                <p:nvPr/>
              </p:nvSpPr>
              <p:spPr>
                <a:xfrm>
                  <a:off x="3258841" y="934902"/>
                  <a:ext cx="628384" cy="3690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두 번째 </a:t>
                  </a:r>
                  <a:endParaRPr lang="en-US" altLang="ko-KR" sz="600" b="1" dirty="0" smtClean="0">
                    <a:solidFill>
                      <a:schemeClr val="tx1"/>
                    </a:solidFill>
                  </a:endParaRPr>
                </a:p>
                <a:p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입력 토큰의 </a:t>
                  </a:r>
                  <a:endParaRPr lang="en-US" altLang="ko-KR" sz="600" b="1" dirty="0" smtClean="0">
                    <a:solidFill>
                      <a:schemeClr val="tx1"/>
                    </a:solidFill>
                  </a:endParaRPr>
                </a:p>
                <a:p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임베딩 벡터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altLang="ko-KR" sz="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𝝌</m:t>
                          </m:r>
                        </m:e>
                        <m:sup>
                          <m:r>
                            <a:rPr lang="en-US" altLang="ko-KR" sz="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ko-KR" sz="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a14:m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직사각형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8841" y="934902"/>
                  <a:ext cx="628384" cy="369041"/>
                </a:xfrm>
                <a:prstGeom prst="rect">
                  <a:avLst/>
                </a:prstGeom>
                <a:blipFill>
                  <a:blip r:embed="rId3"/>
                  <a:stretch>
                    <a:fillRect t="-8197" b="-819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/>
                <p:cNvSpPr/>
                <p:nvPr/>
              </p:nvSpPr>
              <p:spPr>
                <a:xfrm>
                  <a:off x="3258841" y="1521309"/>
                  <a:ext cx="1104036" cy="4346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두 번째 쿼리 벡터는</a:t>
                  </a:r>
                  <a:endParaRPr lang="en-US" altLang="ko-KR" sz="600" b="1" dirty="0" smtClean="0">
                    <a:solidFill>
                      <a:schemeClr val="tx1"/>
                    </a:solidFill>
                  </a:endParaRPr>
                </a:p>
                <a:p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a14:m>
                  <a:r>
                    <a:rPr lang="en-US" altLang="ko-KR" sz="600" b="1" dirty="0" smtClean="0">
                      <a:solidFill>
                        <a:schemeClr val="tx1"/>
                      </a:solidFill>
                    </a:rPr>
                    <a:t> </a:t>
                  </a:r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와 가중치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sSup>
                            <m:sSupPr>
                              <m:ctrlPr>
                                <a:rPr lang="en-US" altLang="ko-KR" sz="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p>
                              <m:r>
                                <a:rPr lang="en-US" altLang="ko-KR" sz="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altLang="ko-KR" sz="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sub>
                      </m:sSub>
                    </m:oMath>
                  </a14:m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을 </a:t>
                  </a:r>
                  <a:endParaRPr lang="en-US" altLang="ko-KR" sz="600" b="1" dirty="0" smtClean="0">
                    <a:solidFill>
                      <a:schemeClr val="tx1"/>
                    </a:solidFill>
                  </a:endParaRPr>
                </a:p>
                <a:p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합성곱한  벡터</a:t>
                  </a:r>
                  <a:r>
                    <a:rPr lang="en-US" altLang="ko-KR" sz="600" b="1" dirty="0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a14:m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입니다</a:t>
                  </a:r>
                  <a:r>
                    <a:rPr lang="en-US" altLang="ko-KR" sz="600" b="1" dirty="0" smtClean="0">
                      <a:solidFill>
                        <a:schemeClr val="tx1"/>
                      </a:solidFill>
                    </a:rPr>
                    <a:t>.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직사각형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8841" y="1521309"/>
                  <a:ext cx="1104036" cy="43460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직사각형 9"/>
                <p:cNvSpPr/>
                <p:nvPr/>
              </p:nvSpPr>
              <p:spPr>
                <a:xfrm>
                  <a:off x="6166742" y="2239570"/>
                  <a:ext cx="894230" cy="43460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입력 </a:t>
                  </a:r>
                  <a:r>
                    <a:rPr lang="en-US" altLang="ko-KR" sz="600" b="1" dirty="0" smtClean="0">
                      <a:solidFill>
                        <a:schemeClr val="tx1"/>
                      </a:solidFill>
                    </a:rPr>
                    <a:t>X</a:t>
                  </a:r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와 가중치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</m:oMath>
                  </a14:m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를 곱해 값 행령 </a:t>
                  </a:r>
                  <a:r>
                    <a:rPr lang="en-US" altLang="ko-KR" sz="600" b="1" dirty="0" smtClean="0">
                      <a:solidFill>
                        <a:schemeClr val="tx1"/>
                      </a:solidFill>
                    </a:rPr>
                    <a:t>V</a:t>
                  </a:r>
                  <a:r>
                    <a:rPr lang="ko-KR" altLang="en-US" sz="600" b="1" dirty="0" smtClean="0">
                      <a:solidFill>
                        <a:schemeClr val="tx1"/>
                      </a:solidFill>
                    </a:rPr>
                    <a:t>를 얻는다</a:t>
                  </a:r>
                  <a:r>
                    <a:rPr lang="en-US" altLang="ko-KR" sz="600" b="1" dirty="0" smtClean="0">
                      <a:solidFill>
                        <a:schemeClr val="tx1"/>
                      </a:solidFill>
                    </a:rPr>
                    <a:t>.</a:t>
                  </a:r>
                  <a:endParaRPr lang="ko-KR" altLang="en-US" sz="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직사각형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6742" y="2239570"/>
                  <a:ext cx="894230" cy="43460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직사각형 10"/>
            <p:cNvSpPr/>
            <p:nvPr/>
          </p:nvSpPr>
          <p:spPr>
            <a:xfrm>
              <a:off x="3258841" y="1955914"/>
              <a:ext cx="923616" cy="4346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어텐션 가중치 행렬은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각각의 입력 쌍에 대한 어텐션 점수를 담고 있다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396700" y="2703607"/>
              <a:ext cx="699456" cy="5029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두 번째 입력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토큰에 대한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입력 문맥 벡터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5066994" y="129603"/>
            <a:ext cx="3772000" cy="1883278"/>
            <a:chOff x="5066994" y="129603"/>
            <a:chExt cx="3772000" cy="1883278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66994" y="129603"/>
              <a:ext cx="3771999" cy="1883278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5219205" y="1730975"/>
              <a:ext cx="1300507" cy="2819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“step”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과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“you”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입격 토큰에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>
                  <a:solidFill>
                    <a:schemeClr val="tx1"/>
                  </a:solidFill>
                </a:rPr>
                <a:t>대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한 어텐션 가중치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274705" y="535537"/>
              <a:ext cx="564289" cy="973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“Your” </a:t>
              </a: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토큰 다음에 등장하는 미래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토큰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err="1" smtClean="0">
                  <a:solidFill>
                    <a:schemeClr val="tx1"/>
                  </a:solidFill>
                </a:rPr>
                <a:t>마스킹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8" t="24275" r="1824" b="40808"/>
          <a:stretch/>
        </p:blipFill>
        <p:spPr>
          <a:xfrm>
            <a:off x="516541" y="4044147"/>
            <a:ext cx="4272555" cy="1198030"/>
          </a:xfrm>
          <a:prstGeom prst="rect">
            <a:avLst/>
          </a:prstGeom>
        </p:spPr>
      </p:pic>
      <p:grpSp>
        <p:nvGrpSpPr>
          <p:cNvPr id="24" name="그룹 23"/>
          <p:cNvGrpSpPr/>
          <p:nvPr/>
        </p:nvGrpSpPr>
        <p:grpSpPr>
          <a:xfrm>
            <a:off x="5520470" y="2300345"/>
            <a:ext cx="3396432" cy="3216813"/>
            <a:chOff x="5520470" y="2300345"/>
            <a:chExt cx="3396432" cy="3216813"/>
          </a:xfrm>
        </p:grpSpPr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20470" y="2300345"/>
              <a:ext cx="3396432" cy="3216813"/>
            </a:xfrm>
            <a:prstGeom prst="rect">
              <a:avLst/>
            </a:prstGeom>
          </p:spPr>
        </p:pic>
        <p:sp>
          <p:nvSpPr>
            <p:cNvPr id="21" name="직사각형 20"/>
            <p:cNvSpPr/>
            <p:nvPr/>
          </p:nvSpPr>
          <p:spPr>
            <a:xfrm>
              <a:off x="5520470" y="3872092"/>
              <a:ext cx="1245270" cy="3718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“step”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과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“you”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입격 토큰에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>
                  <a:solidFill>
                    <a:schemeClr val="tx1"/>
                  </a:solidFill>
                </a:rPr>
                <a:t>대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한 어텐션 가중치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893363" y="3847446"/>
              <a:ext cx="945630" cy="5441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랜덤하게 삭제할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위치가 지정된 드롭아웃 마스트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7950770" y="4813415"/>
              <a:ext cx="888223" cy="5950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어텐션 가중치에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드롭아웃 마스크를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적용하여 특정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어텐션 가중치를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0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으로 만든다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411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940" y="861763"/>
            <a:ext cx="6554115" cy="291505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149940" y="1527122"/>
            <a:ext cx="1060599" cy="9497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개별 데이터 </a:t>
            </a:r>
            <a:endParaRPr lang="en-US" altLang="ko-KR" sz="800" b="1" dirty="0" smtClean="0">
              <a:solidFill>
                <a:schemeClr val="tx1"/>
              </a:solidFill>
            </a:endParaRPr>
          </a:p>
          <a:p>
            <a:r>
              <a:rPr lang="ko-KR" altLang="en-US" sz="800" b="1" dirty="0" smtClean="0">
                <a:solidFill>
                  <a:schemeClr val="tx1"/>
                </a:solidFill>
              </a:rPr>
              <a:t>레코드가 로드되는</a:t>
            </a:r>
            <a:endParaRPr lang="en-US" altLang="ko-KR" sz="800" b="1" dirty="0" smtClean="0">
              <a:solidFill>
                <a:schemeClr val="tx1"/>
              </a:solidFill>
            </a:endParaRPr>
          </a:p>
          <a:p>
            <a:r>
              <a:rPr lang="ko-KR" altLang="en-US" sz="800" b="1" dirty="0" smtClean="0">
                <a:solidFill>
                  <a:schemeClr val="tx1"/>
                </a:solidFill>
              </a:rPr>
              <a:t>방법을 정의하는</a:t>
            </a:r>
            <a:endParaRPr lang="en-US" altLang="ko-KR" sz="800" b="1" dirty="0" smtClean="0">
              <a:solidFill>
                <a:schemeClr val="tx1"/>
              </a:solidFill>
            </a:endParaRPr>
          </a:p>
          <a:p>
            <a:r>
              <a:rPr lang="ko-KR" altLang="en-US" sz="800" b="1" dirty="0" smtClean="0">
                <a:solidFill>
                  <a:schemeClr val="tx1"/>
                </a:solidFill>
              </a:rPr>
              <a:t>사용자 정의 클래스 생성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17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578729" y="426291"/>
            <a:ext cx="6382641" cy="2276794"/>
            <a:chOff x="1253432" y="914563"/>
            <a:chExt cx="6382641" cy="227679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3432" y="914564"/>
              <a:ext cx="6382641" cy="2276793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1666168" y="914564"/>
              <a:ext cx="1014888" cy="390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훈련 가능한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가중치 파라미터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253432" y="2938509"/>
              <a:ext cx="877209" cy="2528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입력 데이터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271328" y="2548056"/>
              <a:ext cx="1324127" cy="390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계산 그래프의 중간 결과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595455" y="914563"/>
              <a:ext cx="1324127" cy="390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훈련 가능한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편향 유닛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002783" y="1154258"/>
              <a:ext cx="726491" cy="390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타깃 레이블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226" y="2291997"/>
            <a:ext cx="4489484" cy="159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26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636" y="709528"/>
            <a:ext cx="5430008" cy="536332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146720" y="5502218"/>
            <a:ext cx="1489280" cy="380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출력 유닛은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3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505120" y="5008879"/>
            <a:ext cx="1377520" cy="380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출력층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823258" y="3587636"/>
            <a:ext cx="1551382" cy="380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두 번째 은닉층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685880" y="5692429"/>
            <a:ext cx="1377520" cy="380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출력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223818" y="2307476"/>
            <a:ext cx="1551382" cy="380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첫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 번째 은닉층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223818" y="1445033"/>
            <a:ext cx="1063702" cy="3804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입력층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569200" y="3991206"/>
            <a:ext cx="1272284" cy="936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두 번째 은닉층은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en-US" altLang="ko-KR" sz="1000" b="1" dirty="0" smtClean="0">
                <a:solidFill>
                  <a:schemeClr val="tx1"/>
                </a:solidFill>
              </a:rPr>
              <a:t>4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개의 노드와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ko-KR" altLang="en-US" sz="1000" b="1" dirty="0" smtClean="0">
                <a:solidFill>
                  <a:schemeClr val="tx1"/>
                </a:solidFill>
              </a:rPr>
              <a:t>하나의 편향 유닛을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ko-KR" altLang="en-US" sz="1000" b="1" dirty="0" smtClean="0">
                <a:solidFill>
                  <a:schemeClr val="tx1"/>
                </a:solidFill>
              </a:rPr>
              <a:t>갖는다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7305040" y="3119439"/>
            <a:ext cx="1330960" cy="936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엣지는 가중치 연결을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ko-KR" altLang="en-US" sz="1000" b="1" dirty="0" smtClean="0">
                <a:solidFill>
                  <a:schemeClr val="tx1"/>
                </a:solidFill>
              </a:rPr>
              <a:t>나타낸다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305040" y="2544821"/>
            <a:ext cx="1528778" cy="665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첫 번째 은닉층은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6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개의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 smtClean="0">
                <a:solidFill>
                  <a:schemeClr val="tx1"/>
                </a:solidFill>
              </a:rPr>
              <a:t>노드와 하나의 편향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ko-KR" altLang="en-US" sz="1000" b="1" dirty="0" smtClean="0">
                <a:solidFill>
                  <a:schemeClr val="tx1"/>
                </a:solidFill>
              </a:rPr>
              <a:t>유닛을 갖는다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5902960" y="709528"/>
            <a:ext cx="1272284" cy="4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이 신경망은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10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개의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ko-KR" altLang="en-US" sz="1000" b="1" dirty="0" smtClean="0">
                <a:solidFill>
                  <a:schemeClr val="tx1"/>
                </a:solidFill>
              </a:rPr>
              <a:t>입력 유닛을 갖는다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7334378" y="1218105"/>
            <a:ext cx="1499440" cy="481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이 노드는 편향 유닛을</a:t>
            </a:r>
            <a:endParaRPr lang="en-US" altLang="ko-KR" sz="1000" b="1" smtClean="0">
              <a:solidFill>
                <a:schemeClr val="tx1"/>
              </a:solidFill>
            </a:endParaRPr>
          </a:p>
          <a:p>
            <a:r>
              <a:rPr lang="ko-KR" altLang="en-US" sz="1000" b="1" smtClean="0">
                <a:solidFill>
                  <a:schemeClr val="tx1"/>
                </a:solidFill>
              </a:rPr>
              <a:t>나타낸다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53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545003" y="292430"/>
            <a:ext cx="6611273" cy="4363059"/>
            <a:chOff x="1134283" y="465150"/>
            <a:chExt cx="6611273" cy="436305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4283" y="465150"/>
              <a:ext cx="6611273" cy="4363059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3155544" y="700612"/>
              <a:ext cx="2005735" cy="3904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편향 유닛에 대한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중간 결과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z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의 편도 함수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450550" y="465150"/>
              <a:ext cx="2005735" cy="500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입력에 대한 손실의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편도 함수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419599" y="2984830"/>
              <a:ext cx="2005735" cy="8454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그래프 안에 있는 개별 편도 함수를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연결하여 훈련 가능한 가중치에 대한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손실의 편도 함수를 얻을 수 있다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505774" y="3976550"/>
              <a:ext cx="2005735" cy="8454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위와 비슷하게 연쇄 법칙을 적용하여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훈련 가능한 편향의 편도 함수를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구할 수 있다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633" y="1246443"/>
            <a:ext cx="4630313" cy="305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0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767883" y="539330"/>
            <a:ext cx="4477375" cy="2476846"/>
            <a:chOff x="767883" y="539330"/>
            <a:chExt cx="4477375" cy="2476846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7883" y="539330"/>
              <a:ext cx="4477375" cy="2476846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933724" y="830552"/>
              <a:ext cx="912832" cy="5188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스칼라는 하나의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숫자입니다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021275" y="539330"/>
              <a:ext cx="1618570" cy="6147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3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 원소가 있는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3D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벡터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986135" y="562246"/>
              <a:ext cx="1145158" cy="5918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3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 행과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4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 열이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있는 행렬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933724" y="2370338"/>
              <a:ext cx="912832" cy="266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스칼라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093738" y="2370338"/>
              <a:ext cx="912832" cy="266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백터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369163" y="2370338"/>
              <a:ext cx="912832" cy="266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행렬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933724" y="2684379"/>
              <a:ext cx="912832" cy="266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0D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텐서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093738" y="2693257"/>
              <a:ext cx="912832" cy="266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1D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텐서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3333652" y="2681602"/>
              <a:ext cx="912832" cy="2663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2D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텐서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574" y="2188356"/>
            <a:ext cx="3132396" cy="173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1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951478" y="883817"/>
            <a:ext cx="4039164" cy="2267266"/>
            <a:chOff x="951478" y="883817"/>
            <a:chExt cx="4039164" cy="2267266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1478" y="883817"/>
              <a:ext cx="4039164" cy="2267266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951478" y="910451"/>
              <a:ext cx="1330083" cy="5188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효율적인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계산을 위한 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텐서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배열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라이브러리를 제공한다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971060" y="910450"/>
              <a:ext cx="1330083" cy="5188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자동 미분 계산을 위한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도구를 제공한다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636101" y="2447767"/>
              <a:ext cx="1330083" cy="7033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딥러닝 도구들은 텐서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라이브러리와 자동 미분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엔진을 활용한다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287262" y="1713390"/>
              <a:ext cx="1162975" cy="230820"/>
            </a:xfrm>
            <a:prstGeom prst="rect">
              <a:avLst/>
            </a:prstGeom>
            <a:solidFill>
              <a:srgbClr val="AC3B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 smtClean="0"/>
                <a:t>텐서 라이브러리</a:t>
              </a:r>
              <a:endParaRPr lang="ko-KR" altLang="en-US" sz="800" b="1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971061" y="1677881"/>
              <a:ext cx="1198486" cy="301841"/>
            </a:xfrm>
            <a:prstGeom prst="rect">
              <a:avLst/>
            </a:prstGeom>
            <a:solidFill>
              <a:srgbClr val="7027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 smtClean="0"/>
                <a:t>자동 미분 엔진</a:t>
              </a:r>
              <a:endParaRPr lang="ko-KR" altLang="en-US" sz="800" b="1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093652" y="2432238"/>
              <a:ext cx="1198486" cy="301841"/>
            </a:xfrm>
            <a:prstGeom prst="rect">
              <a:avLst/>
            </a:prstGeom>
            <a:solidFill>
              <a:srgbClr val="EE63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 smtClean="0"/>
                <a:t>딥러닝 라이브러리</a:t>
              </a:r>
              <a:endParaRPr lang="ko-KR" altLang="en-US" sz="800" b="1" dirty="0"/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759" y="2295045"/>
            <a:ext cx="2850737" cy="15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53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178197" y="406440"/>
            <a:ext cx="7954485" cy="3972479"/>
            <a:chOff x="178197" y="406440"/>
            <a:chExt cx="7954485" cy="3972479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197" y="406440"/>
              <a:ext cx="7954485" cy="3972479"/>
            </a:xfrm>
            <a:prstGeom prst="rect">
              <a:avLst/>
            </a:prstGeom>
          </p:spPr>
        </p:pic>
        <p:grpSp>
          <p:nvGrpSpPr>
            <p:cNvPr id="18" name="그룹 17"/>
            <p:cNvGrpSpPr/>
            <p:nvPr/>
          </p:nvGrpSpPr>
          <p:grpSpPr>
            <a:xfrm>
              <a:off x="3834418" y="1148121"/>
              <a:ext cx="4215765" cy="3230798"/>
              <a:chOff x="3834418" y="1148121"/>
              <a:chExt cx="4215765" cy="3230798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6720100" y="1408290"/>
                <a:ext cx="1330083" cy="6135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r>
                  <a:rPr lang="ko-KR" altLang="en-US" sz="800" b="1" dirty="0" smtClean="0">
                    <a:solidFill>
                      <a:schemeClr val="tx1"/>
                    </a:solidFill>
                  </a:rPr>
                  <a:t>지도</a:t>
                </a:r>
                <a:r>
                  <a:rPr lang="en-US" altLang="ko-KR" sz="800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ko-KR" altLang="en-US" sz="800" b="1" dirty="0" smtClean="0">
                    <a:solidFill>
                      <a:schemeClr val="tx1"/>
                    </a:solidFill>
                  </a:rPr>
                  <a:t>학습에서는 레이블된</a:t>
                </a:r>
                <a:endParaRPr lang="en-US" altLang="ko-KR" sz="800" b="1" dirty="0" smtClean="0">
                  <a:solidFill>
                    <a:schemeClr val="tx1"/>
                  </a:solidFill>
                </a:endParaRPr>
              </a:p>
              <a:p>
                <a:r>
                  <a:rPr lang="ko-KR" altLang="en-US" sz="800" b="1" dirty="0" smtClean="0">
                    <a:solidFill>
                      <a:schemeClr val="tx1"/>
                    </a:solidFill>
                  </a:rPr>
                  <a:t>데이터셋으로 모델을 훈련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직사각형 6"/>
              <p:cNvSpPr/>
              <p:nvPr/>
            </p:nvSpPr>
            <p:spPr>
              <a:xfrm>
                <a:off x="3854981" y="1452881"/>
                <a:ext cx="940539" cy="172719"/>
              </a:xfrm>
              <a:prstGeom prst="rect">
                <a:avLst/>
              </a:prstGeom>
              <a:solidFill>
                <a:srgbClr val="5E5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/>
                  <a:t>훈련 데이터 셋</a:t>
                </a:r>
                <a:endParaRPr lang="ko-KR" altLang="en-US" sz="800" dirty="0"/>
              </a:p>
            </p:txBody>
          </p:sp>
          <p:sp>
            <p:nvSpPr>
              <p:cNvPr id="9" name="직사각형 8"/>
              <p:cNvSpPr/>
              <p:nvPr/>
            </p:nvSpPr>
            <p:spPr>
              <a:xfrm>
                <a:off x="5181601" y="1849121"/>
                <a:ext cx="985520" cy="304799"/>
              </a:xfrm>
              <a:prstGeom prst="rect">
                <a:avLst/>
              </a:prstGeom>
              <a:solidFill>
                <a:srgbClr val="5E5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>
                    <a:latin typeface="+mj-lt"/>
                  </a:rPr>
                  <a:t>모델과</a:t>
                </a:r>
                <a:endParaRPr lang="en-US" altLang="ko-KR" sz="800" dirty="0" smtClean="0">
                  <a:latin typeface="+mj-lt"/>
                </a:endParaRPr>
              </a:p>
              <a:p>
                <a:pPr algn="ctr"/>
                <a:r>
                  <a:rPr lang="ko-KR" altLang="en-US" sz="800" dirty="0" smtClean="0">
                    <a:latin typeface="+mj-lt"/>
                  </a:rPr>
                  <a:t>학습 알고리즘</a:t>
                </a:r>
                <a:endParaRPr lang="ko-KR" altLang="en-US" sz="800" dirty="0">
                  <a:latin typeface="+mj-lt"/>
                </a:endParaRPr>
              </a:p>
            </p:txBody>
          </p:sp>
          <p:sp>
            <p:nvSpPr>
              <p:cNvPr id="10" name="직사각형 9"/>
              <p:cNvSpPr/>
              <p:nvPr/>
            </p:nvSpPr>
            <p:spPr>
              <a:xfrm>
                <a:off x="5191762" y="2839701"/>
                <a:ext cx="985520" cy="304799"/>
              </a:xfrm>
              <a:prstGeom prst="rect">
                <a:avLst/>
              </a:prstGeom>
              <a:solidFill>
                <a:srgbClr val="5E5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>
                    <a:latin typeface="+mj-lt"/>
                  </a:rPr>
                  <a:t>훈련된 모델</a:t>
                </a:r>
                <a:endParaRPr lang="ko-KR" altLang="en-US" sz="800" dirty="0">
                  <a:latin typeface="+mj-lt"/>
                </a:endParaRP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3919592" y="1727202"/>
                <a:ext cx="632088" cy="132080"/>
              </a:xfrm>
              <a:prstGeom prst="rect">
                <a:avLst/>
              </a:prstGeom>
              <a:solidFill>
                <a:srgbClr val="D5D5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  <a:latin typeface="+mj-lt"/>
                  </a:rPr>
                  <a:t>샘플</a:t>
                </a:r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4312578" y="1915160"/>
                <a:ext cx="468000" cy="198120"/>
              </a:xfrm>
              <a:prstGeom prst="rect">
                <a:avLst/>
              </a:prstGeom>
              <a:solidFill>
                <a:srgbClr val="D5D5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  <a:latin typeface="+mj-lt"/>
                  </a:rPr>
                  <a:t>레이블</a:t>
                </a:r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3" name="직사각형 12"/>
              <p:cNvSpPr/>
              <p:nvPr/>
            </p:nvSpPr>
            <p:spPr>
              <a:xfrm>
                <a:off x="3834418" y="2910820"/>
                <a:ext cx="1008000" cy="223520"/>
              </a:xfrm>
              <a:prstGeom prst="rect">
                <a:avLst/>
              </a:prstGeom>
              <a:solidFill>
                <a:srgbClr val="D5D5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  <a:latin typeface="+mj-lt"/>
                  </a:rPr>
                  <a:t>새로운 샘플</a:t>
                </a:r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6620502" y="2915880"/>
                <a:ext cx="1008000" cy="223520"/>
              </a:xfrm>
              <a:prstGeom prst="rect">
                <a:avLst/>
              </a:prstGeom>
              <a:solidFill>
                <a:srgbClr val="D5D5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800" dirty="0" smtClean="0">
                    <a:solidFill>
                      <a:schemeClr val="tx1"/>
                    </a:solidFill>
                    <a:latin typeface="+mj-lt"/>
                  </a:rPr>
                  <a:t>예측된 레이블</a:t>
                </a:r>
                <a:endParaRPr lang="ko-KR" altLang="en-US" sz="800" dirty="0">
                  <a:solidFill>
                    <a:schemeClr val="tx1"/>
                  </a:solidFill>
                  <a:latin typeface="+mj-lt"/>
                </a:endParaRPr>
              </a:p>
            </p:txBody>
          </p:sp>
          <p:sp>
            <p:nvSpPr>
              <p:cNvPr id="15" name="직사각형 14"/>
              <p:cNvSpPr/>
              <p:nvPr/>
            </p:nvSpPr>
            <p:spPr>
              <a:xfrm>
                <a:off x="5290419" y="3948231"/>
                <a:ext cx="2338083" cy="4306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r>
                  <a:rPr lang="ko-KR" altLang="en-US" sz="800" b="1" dirty="0" smtClean="0">
                    <a:solidFill>
                      <a:schemeClr val="tx1"/>
                    </a:solidFill>
                  </a:rPr>
                  <a:t>모델이 훈련되고 나면 이를 사용해</a:t>
                </a:r>
                <a:endParaRPr lang="en-US" altLang="ko-KR" sz="800" b="1" dirty="0" smtClean="0">
                  <a:solidFill>
                    <a:schemeClr val="tx1"/>
                  </a:solidFill>
                </a:endParaRPr>
              </a:p>
              <a:p>
                <a:r>
                  <a:rPr lang="ko-KR" altLang="en-US" sz="800" b="1" dirty="0" smtClean="0">
                    <a:solidFill>
                      <a:schemeClr val="tx1"/>
                    </a:solidFill>
                  </a:rPr>
                  <a:t>새로운 데이터의 레이블을 예측할 수 있다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5129377" y="3334680"/>
                <a:ext cx="1330083" cy="343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200" b="1" dirty="0" smtClean="0">
                    <a:solidFill>
                      <a:schemeClr val="tx1"/>
                    </a:solidFill>
                  </a:rPr>
                  <a:t>추론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직사각형 16"/>
              <p:cNvSpPr/>
              <p:nvPr/>
            </p:nvSpPr>
            <p:spPr>
              <a:xfrm>
                <a:off x="4970849" y="1148121"/>
                <a:ext cx="1330083" cy="343239"/>
              </a:xfrm>
              <a:prstGeom prst="rect">
                <a:avLst/>
              </a:prstGeom>
              <a:solidFill>
                <a:srgbClr val="D5D5D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200" b="1" dirty="0" smtClean="0">
                    <a:solidFill>
                      <a:schemeClr val="tx1"/>
                    </a:solidFill>
                  </a:rPr>
                  <a:t>훈련</a:t>
                </a:r>
                <a:endParaRPr lang="ko-KR" altLang="en-US" sz="1200" b="1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0" t="15313"/>
          <a:stretch/>
        </p:blipFill>
        <p:spPr>
          <a:xfrm>
            <a:off x="6461759" y="1188720"/>
            <a:ext cx="3248502" cy="235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47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85" y="308084"/>
            <a:ext cx="5801535" cy="261974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직사각형 4"/>
          <p:cNvSpPr/>
          <p:nvPr/>
        </p:nvSpPr>
        <p:spPr>
          <a:xfrm>
            <a:off x="724107" y="417249"/>
            <a:ext cx="2427466" cy="248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지시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743994" y="417248"/>
            <a:ext cx="2603540" cy="248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기대하는 응답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29585" y="2927825"/>
            <a:ext cx="2427466" cy="248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지시는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LLM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을 위한 입력 역할을 한다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151573" y="2927825"/>
            <a:ext cx="3195961" cy="248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기대하는 응답을 생성하는 것이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LLM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의 목표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517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55" y="0"/>
            <a:ext cx="7659169" cy="345805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76654" y="3099489"/>
            <a:ext cx="2569745" cy="248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입력 텍스트에 해당하는 토큰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ID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676346" y="112449"/>
            <a:ext cx="3045253" cy="365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손실을 계산할 때 지시 토큰을 </a:t>
            </a:r>
            <a:r>
              <a:rPr lang="ko-KR" altLang="en-US" sz="1000" b="1" dirty="0" err="1" smtClean="0">
                <a:solidFill>
                  <a:schemeClr val="tx1"/>
                </a:solidFill>
              </a:rPr>
              <a:t>마스킹합니다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206239" y="3099488"/>
            <a:ext cx="2427466" cy="248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지시 토큰을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-100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으로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바꿉니다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66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6687" y="386677"/>
            <a:ext cx="7563906" cy="281979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021114" y="2693088"/>
            <a:ext cx="2603540" cy="513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</a:rPr>
              <a:t>첫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번째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 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종료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패딩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) 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토큰은 바꾸지 않는다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871754" y="2693087"/>
            <a:ext cx="2603540" cy="513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첫 번째를 제외한 모든 종료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패딩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)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토큰을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en-US" altLang="ko-KR" sz="1000" b="1" dirty="0" smtClean="0">
                <a:solidFill>
                  <a:schemeClr val="tx1"/>
                </a:solidFill>
              </a:rPr>
              <a:t>-100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으로 변경한다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52" y="2017653"/>
            <a:ext cx="4913802" cy="183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15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139" y="276155"/>
            <a:ext cx="5601482" cy="55538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176987" y="276155"/>
            <a:ext cx="2427466" cy="526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타깃 벡터는 첫 번째 입력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ID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를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ko-KR" altLang="en-US" sz="1000" b="1" dirty="0" smtClean="0">
                <a:solidFill>
                  <a:schemeClr val="tx1"/>
                </a:solidFill>
              </a:rPr>
              <a:t>포함하지 않습니다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54480" y="2877115"/>
            <a:ext cx="2692400" cy="526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타깃에 있는 토큰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ID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는 입력 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ID</a:t>
            </a:r>
            <a:r>
              <a:rPr lang="ko-KR" altLang="en-US" sz="1000" b="1" dirty="0" smtClean="0">
                <a:solidFill>
                  <a:schemeClr val="tx1"/>
                </a:solidFill>
              </a:rPr>
              <a:t>와</a:t>
            </a:r>
            <a:endParaRPr lang="en-US" altLang="ko-KR" sz="1000" b="1" dirty="0" smtClean="0">
              <a:solidFill>
                <a:schemeClr val="tx1"/>
              </a:solidFill>
            </a:endParaRPr>
          </a:p>
          <a:p>
            <a:r>
              <a:rPr lang="ko-KR" altLang="en-US" sz="1000" b="1" dirty="0" smtClean="0">
                <a:solidFill>
                  <a:schemeClr val="tx1"/>
                </a:solidFill>
              </a:rPr>
              <a:t>같지만 안 위치씩 이동되어 있습니다</a:t>
            </a:r>
            <a:r>
              <a:rPr lang="en-US" altLang="ko-KR" sz="1000" b="1" dirty="0" smtClean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433517" y="2613872"/>
            <a:ext cx="2614104" cy="526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패딩 토큰을 추가합니다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972560" y="5557520"/>
            <a:ext cx="2981742" cy="2724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1000" b="1" dirty="0" smtClean="0">
                <a:solidFill>
                  <a:schemeClr val="tx1"/>
                </a:solidFill>
              </a:rPr>
              <a:t>타깃에는 항상 패딩 토큰을 추가합니다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645" y="639838"/>
            <a:ext cx="3641762" cy="36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32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851007" y="0"/>
            <a:ext cx="7563906" cy="5001323"/>
            <a:chOff x="851007" y="0"/>
            <a:chExt cx="7563906" cy="500132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51007" y="0"/>
              <a:ext cx="7563906" cy="5001323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1902666" y="407089"/>
              <a:ext cx="3329733" cy="248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첫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번째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훈련 샘플에 해당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하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는 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070324" y="158514"/>
              <a:ext cx="3179595" cy="4206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배치에 있는 모든 샘플의 길이가 같아지도록 패딩 추가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153867" y="2704206"/>
              <a:ext cx="3096052" cy="248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 50256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을 패딩 토큰으로 사용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851007" y="2032689"/>
              <a:ext cx="631867" cy="5073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첫 번째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배치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851007" y="4494012"/>
              <a:ext cx="631867" cy="5073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두 번째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배치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152" y="929423"/>
            <a:ext cx="4913802" cy="324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17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837276" y="515386"/>
            <a:ext cx="6611273" cy="4353533"/>
            <a:chOff x="837276" y="515386"/>
            <a:chExt cx="6611273" cy="435353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7276" y="515386"/>
              <a:ext cx="6611273" cy="4353533"/>
            </a:xfrm>
            <a:prstGeom prst="rect">
              <a:avLst/>
            </a:prstGeom>
            <a:solidFill>
              <a:srgbClr val="B9E2FB"/>
            </a:solidFill>
          </p:spPr>
        </p:pic>
        <p:sp>
          <p:nvSpPr>
            <p:cNvPr id="5" name="직사각형 4"/>
            <p:cNvSpPr/>
            <p:nvPr/>
          </p:nvSpPr>
          <p:spPr>
            <a:xfrm>
              <a:off x="837276" y="1890941"/>
              <a:ext cx="1470918" cy="248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데이테셋 준비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837276" y="3216680"/>
              <a:ext cx="1470918" cy="248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LLM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미세 튜닝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37276" y="4542419"/>
              <a:ext cx="1470918" cy="248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LLM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평가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528854" y="643234"/>
              <a:ext cx="4847306" cy="8956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모델을 미세 튜닝하기 위해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사용할 데이터 셋을 다운로드 하고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,</a:t>
              </a: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조사하고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,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준비한다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633192" y="4269088"/>
              <a:ext cx="1020932" cy="50602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9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응답 평가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4082251" y="1597286"/>
              <a:ext cx="1044000" cy="522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배치 데이터 만들기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5635648" y="1597286"/>
              <a:ext cx="1020932" cy="50602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3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데이터 로드 만들기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2528854" y="2945611"/>
              <a:ext cx="1020932" cy="50602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4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사전 훈련된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LLM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로드하기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4075943" y="2943347"/>
              <a:ext cx="1020932" cy="50602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5) LLM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지시  미세튜닝하기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5635648" y="2923027"/>
              <a:ext cx="1020932" cy="50602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6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모델링 손실 조사하기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2528854" y="4263856"/>
              <a:ext cx="1020932" cy="50602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7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응답        추출하기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4075943" y="4263856"/>
              <a:ext cx="1020932" cy="50602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8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품질 평가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모서리가 둥근 직사각형 17"/>
            <p:cNvSpPr/>
            <p:nvPr/>
          </p:nvSpPr>
          <p:spPr>
            <a:xfrm>
              <a:off x="2508534" y="1597287"/>
              <a:ext cx="1044000" cy="522000"/>
            </a:xfrm>
            <a:prstGeom prst="roundRect">
              <a:avLst/>
            </a:prstGeom>
            <a:solidFill>
              <a:srgbClr val="BBE7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1)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데이터셋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다운로드와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전처리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marL="228600" indent="-228600">
                <a:buAutoNum type="arabicParenR"/>
              </a:pP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6579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126267" y="415005"/>
            <a:ext cx="7744906" cy="4077269"/>
            <a:chOff x="1126267" y="415005"/>
            <a:chExt cx="7744906" cy="407726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6267" y="415005"/>
              <a:ext cx="7744906" cy="4077269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1930401" y="1048225"/>
              <a:ext cx="2082800" cy="384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2.1)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데이터셋의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샘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플 포멧팅 하기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957320" y="539448"/>
              <a:ext cx="2082800" cy="384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프롬프트 템플릿을 사용해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입력을 포맷팅 한다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177281" y="1048224"/>
              <a:ext cx="1178559" cy="384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2.2)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포멧팅된 샘플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토큰화 하기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325360" y="731615"/>
              <a:ext cx="1515332" cy="3843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LLM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입력으로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받을 토큰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704" y="1389711"/>
            <a:ext cx="5032684" cy="265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87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888849" y="304712"/>
            <a:ext cx="6716062" cy="5801535"/>
            <a:chOff x="888849" y="304712"/>
            <a:chExt cx="6716062" cy="580153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8849" y="304712"/>
              <a:ext cx="6716062" cy="5801535"/>
            </a:xfrm>
            <a:prstGeom prst="rect">
              <a:avLst/>
            </a:prstGeom>
          </p:spPr>
        </p:pic>
        <p:sp>
          <p:nvSpPr>
            <p:cNvPr id="5" name="모서리가 둥근 직사각형 4"/>
            <p:cNvSpPr/>
            <p:nvPr/>
          </p:nvSpPr>
          <p:spPr>
            <a:xfrm>
              <a:off x="1005840" y="518160"/>
              <a:ext cx="1239520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</a:rPr>
                <a:t>2.1) </a:t>
              </a:r>
              <a:r>
                <a:rPr lang="ko-KR" altLang="en-US" sz="900" b="1" dirty="0" smtClean="0">
                  <a:solidFill>
                    <a:schemeClr val="tx1"/>
                  </a:solidFill>
                </a:rPr>
                <a:t>프롬프트        템플릿을 사용해    데이터 포멧팅하기</a:t>
              </a:r>
              <a:endParaRPr lang="en-US" altLang="ko-KR" sz="9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1005840" y="4074160"/>
              <a:ext cx="1239520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</a:rPr>
                <a:t>2.4) </a:t>
              </a:r>
              <a:r>
                <a:rPr lang="ko-KR" altLang="en-US" sz="900" b="1" dirty="0" smtClean="0">
                  <a:solidFill>
                    <a:schemeClr val="tx1"/>
                  </a:solidFill>
                </a:rPr>
                <a:t>훈련을 위해    타깃 토큰 </a:t>
              </a:r>
              <a:r>
                <a:rPr lang="en-US" altLang="ko-KR" sz="900" b="1" dirty="0" smtClean="0">
                  <a:solidFill>
                    <a:schemeClr val="tx1"/>
                  </a:solidFill>
                </a:rPr>
                <a:t>ID </a:t>
              </a:r>
              <a:r>
                <a:rPr lang="ko-KR" altLang="en-US" sz="900" b="1" dirty="0" smtClean="0">
                  <a:solidFill>
                    <a:schemeClr val="tx1"/>
                  </a:solidFill>
                </a:rPr>
                <a:t>만들기</a:t>
              </a:r>
              <a:endParaRPr lang="en-US" altLang="ko-KR" sz="9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1005840" y="2903177"/>
              <a:ext cx="1239520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</a:rPr>
                <a:t>2.3) </a:t>
              </a:r>
              <a:r>
                <a:rPr lang="ko-KR" altLang="en-US" sz="900" b="1" dirty="0" smtClean="0">
                  <a:solidFill>
                    <a:schemeClr val="tx1"/>
                  </a:solidFill>
                </a:rPr>
                <a:t>패딩 토큰을    사용해 동일한       길이로 맞추기</a:t>
              </a:r>
              <a:endParaRPr lang="en-US" altLang="ko-KR" sz="9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1005840" y="5257887"/>
              <a:ext cx="1239520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</a:rPr>
                <a:t>2.5) </a:t>
              </a:r>
              <a:r>
                <a:rPr lang="ko-KR" altLang="en-US" sz="900" b="1" dirty="0" smtClean="0">
                  <a:solidFill>
                    <a:schemeClr val="tx1"/>
                  </a:solidFill>
                </a:rPr>
                <a:t>패딩 토큰을    플레이스홀더        토큰으로 바꾸기</a:t>
              </a:r>
              <a:endParaRPr lang="en-US" altLang="ko-KR" sz="9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1005840" y="1719623"/>
              <a:ext cx="1239520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900" b="1" dirty="0" smtClean="0">
                  <a:solidFill>
                    <a:schemeClr val="tx1"/>
                  </a:solidFill>
                </a:rPr>
                <a:t>2.2) </a:t>
              </a:r>
              <a:r>
                <a:rPr lang="ko-KR" altLang="en-US" sz="900" b="1" dirty="0" smtClean="0">
                  <a:solidFill>
                    <a:schemeClr val="tx1"/>
                  </a:solidFill>
                </a:rPr>
                <a:t>포멧팅된        데이터 토큰화하기</a:t>
              </a:r>
              <a:endParaRPr lang="en-US" altLang="ko-KR" sz="9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4490720" y="1110023"/>
              <a:ext cx="2468880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입력을 지시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-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응답 템플릿으로 포맷팅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5029200" y="1747520"/>
              <a:ext cx="2575711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지시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-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응답 샘플을 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로 변환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4673600" y="2857631"/>
              <a:ext cx="2692702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샘플이 동일한 길이가 되도록 텍스트 종료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토큰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(50526)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으로 패딩 추가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4912209" y="3926883"/>
              <a:ext cx="2692702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모델이 학습하기 위해 타깃 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의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리스트를 만든다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.(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입력에서 한 토큰씩 이동한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후에 패딩 토큰을 추가하여 만든다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4815840" y="5257887"/>
              <a:ext cx="2692702" cy="6096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훈련 손실 계산에서 제외하기 위해 패딩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토큰을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-100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을 변경한다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</p:grpSp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814" y="527052"/>
            <a:ext cx="4366943" cy="37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36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448736" y="513849"/>
            <a:ext cx="7535327" cy="2619741"/>
            <a:chOff x="448736" y="513849"/>
            <a:chExt cx="7535327" cy="261974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736" y="513849"/>
              <a:ext cx="7535327" cy="2619741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599819" y="914400"/>
              <a:ext cx="1005461" cy="172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입력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텍스트 메시지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205099" y="670560"/>
              <a:ext cx="1391541" cy="3352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마지막 행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토큰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)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에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대한 출력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962779" y="665480"/>
              <a:ext cx="1391541" cy="3352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1.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출력을 소프트맥스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   확률로 변경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973421" y="746760"/>
              <a:ext cx="1391541" cy="3352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예측된 레이블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668621" y="2504440"/>
              <a:ext cx="2315442" cy="629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2. Argmax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함수를 통해 각 행 벡터에서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가정 높은 확률 값을 가진 인덱스를 찾는다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460048" y="2245360"/>
              <a:ext cx="1005461" cy="172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인덱스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: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45" y="2118246"/>
            <a:ext cx="5274716" cy="18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204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141423" y="353216"/>
            <a:ext cx="3581900" cy="4553585"/>
            <a:chOff x="4305050" y="1152207"/>
            <a:chExt cx="3581900" cy="4553585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05050" y="1152207"/>
              <a:ext cx="3581900" cy="4553585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5088566" y="1152207"/>
              <a:ext cx="2798384" cy="658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코잘 어텐션 마스크로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토큰을 마스킹한다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308992" y="5108467"/>
              <a:ext cx="2784266" cy="597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마지막 토큰이 다른 모든 토큰과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어텐션 점수를 만드는 유일한 토큰이다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.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427" y="1151946"/>
            <a:ext cx="2526402" cy="318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58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657128" y="349007"/>
            <a:ext cx="6687483" cy="2591162"/>
            <a:chOff x="657128" y="349007"/>
            <a:chExt cx="6687483" cy="2591162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128" y="349007"/>
              <a:ext cx="6687483" cy="2591162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657129" y="836827"/>
              <a:ext cx="949730" cy="6594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모델을 위한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지시문 추가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582539" y="1433111"/>
              <a:ext cx="779574" cy="395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모델 입력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928065" y="1433110"/>
              <a:ext cx="779574" cy="395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모델 출력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639" y="349007"/>
            <a:ext cx="4702862" cy="181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92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1359704" y="115823"/>
            <a:ext cx="8078936" cy="6624727"/>
            <a:chOff x="1359704" y="115823"/>
            <a:chExt cx="8078936" cy="6624727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9704" y="115823"/>
              <a:ext cx="8078936" cy="6624727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4247436" y="1122681"/>
              <a:ext cx="812244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선형 출력 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267756" y="1457961"/>
              <a:ext cx="812244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최총 층 정규화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267756" y="2209379"/>
              <a:ext cx="812244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최총 층 정규화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247436" y="2544659"/>
              <a:ext cx="812244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피드 포워드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247436" y="2879939"/>
              <a:ext cx="812244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층 정규화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2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267756" y="3521037"/>
              <a:ext cx="812244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드롭 아웃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247436" y="4337736"/>
              <a:ext cx="812244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층 정규화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1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267756" y="3846156"/>
              <a:ext cx="812244" cy="305819"/>
            </a:xfrm>
            <a:prstGeom prst="rect">
              <a:avLst/>
            </a:prstGeom>
            <a:solidFill>
              <a:srgbClr val="6361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bg1"/>
                  </a:solidFill>
                </a:rPr>
                <a:t>마스크 멀티 </a:t>
              </a:r>
              <a:endParaRPr lang="en-US" altLang="ko-KR" sz="800" b="1" dirty="0" smtClean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800" b="1" dirty="0" smtClean="0">
                  <a:solidFill>
                    <a:schemeClr val="bg1"/>
                  </a:solidFill>
                </a:rPr>
                <a:t>헤드 어텐션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267756" y="4832695"/>
              <a:ext cx="812244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드롭 아웃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074716" y="5176956"/>
              <a:ext cx="1147524" cy="171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위치 임베딩 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079796" y="5555926"/>
              <a:ext cx="1147524" cy="1710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토큰 임베딩 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328716" y="6007194"/>
              <a:ext cx="730964" cy="1461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텍스트 토큰화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1433116" y="2029379"/>
              <a:ext cx="1645364" cy="1030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5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장에서 구현하고 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b="1" dirty="0" smtClean="0">
                  <a:solidFill>
                    <a:schemeClr val="tx1"/>
                  </a:solidFill>
                </a:rPr>
                <a:t>이전 절에서 로드한 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b="1" dirty="0" smtClean="0">
                  <a:solidFill>
                    <a:schemeClr val="tx1"/>
                  </a:solidFill>
                </a:rPr>
                <a:t>GPT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모델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6342688" y="4917440"/>
              <a:ext cx="2821632" cy="799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768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 은닉 유닛을 단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2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 유닛에 매핑하는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층으로 원본 선형 출력 층을 바꾼다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여기서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2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 유닛은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2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 클래스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(‘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스팸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’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과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‘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스팸 아님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‘)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을 나타낸다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6617008" y="1945635"/>
              <a:ext cx="2648912" cy="7993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원본 선형 출력 층은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768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 은닉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유닛을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어휘사전의 토큰 수인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) </a:t>
              </a:r>
            </a:p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50,257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유닛에 매핑한다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24" name="그림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051" y="115537"/>
            <a:ext cx="5250635" cy="430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64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457756" y="92178"/>
            <a:ext cx="5668167" cy="3077004"/>
            <a:chOff x="457756" y="92178"/>
            <a:chExt cx="5668167" cy="307700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757" y="92178"/>
              <a:ext cx="5668166" cy="3077004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457756" y="1630680"/>
              <a:ext cx="2356564" cy="395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지시를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포함하지 않은 모델의 입력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690546" y="1234991"/>
              <a:ext cx="2232733" cy="3956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모델은 두 종류의 응답인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‘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스펨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‘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또는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‘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스펨 아님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＇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만 출력 할 수 있다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776" y="1889626"/>
            <a:ext cx="3998713" cy="215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18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/>
          <p:cNvGrpSpPr/>
          <p:nvPr/>
        </p:nvGrpSpPr>
        <p:grpSpPr>
          <a:xfrm>
            <a:off x="493876" y="403293"/>
            <a:ext cx="6754168" cy="3572374"/>
            <a:chOff x="493876" y="403293"/>
            <a:chExt cx="6754168" cy="357237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876" y="403293"/>
              <a:ext cx="6754168" cy="3572374"/>
            </a:xfrm>
            <a:prstGeom prst="rect">
              <a:avLst/>
            </a:prstGeom>
            <a:solidFill>
              <a:srgbClr val="B9E1FE"/>
            </a:solidFill>
          </p:spPr>
        </p:pic>
        <p:sp>
          <p:nvSpPr>
            <p:cNvPr id="5" name="직사각형 4"/>
            <p:cNvSpPr/>
            <p:nvPr/>
          </p:nvSpPr>
          <p:spPr>
            <a:xfrm>
              <a:off x="493877" y="1336591"/>
              <a:ext cx="1538124" cy="10510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모델 미세 튜닝에 사용할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데이터셋 다운로드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후 검사 및 준비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032001" y="802640"/>
              <a:ext cx="1371599" cy="2651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데이터셋 준비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194560" y="1548414"/>
              <a:ext cx="1046479" cy="381986"/>
            </a:xfrm>
            <a:prstGeom prst="rect">
              <a:avLst/>
            </a:prstGeom>
            <a:solidFill>
              <a:srgbClr val="B8E3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1)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데이터셋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   다운로드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194560" y="2320574"/>
              <a:ext cx="1046479" cy="381986"/>
            </a:xfrm>
            <a:prstGeom prst="rect">
              <a:avLst/>
            </a:prstGeom>
            <a:solidFill>
              <a:srgbClr val="B8E3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데이터셋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   준비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194559" y="3082574"/>
              <a:ext cx="1046479" cy="381986"/>
            </a:xfrm>
            <a:prstGeom prst="rect">
              <a:avLst/>
            </a:prstGeom>
            <a:solidFill>
              <a:srgbClr val="B8E3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3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데이터 로더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   생성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023358" y="1929563"/>
              <a:ext cx="1148082" cy="381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5)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사전 훈련된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가중치 로드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023358" y="1166428"/>
              <a:ext cx="1148082" cy="381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4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모델 초기화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023358" y="2692698"/>
              <a:ext cx="1148082" cy="381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6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미세 튜닝을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위한 모델 수정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017161" y="3425353"/>
              <a:ext cx="1148082" cy="381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7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평가 유틸리티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구현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917081" y="1517097"/>
              <a:ext cx="1148082" cy="381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8)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모델 미세 튜닝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5917081" y="2316343"/>
              <a:ext cx="1148082" cy="381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9)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미세 튜닝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모델 평가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5917080" y="3069318"/>
              <a:ext cx="1148083" cy="381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10)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새 데이터에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모델 사용하기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3856837" y="763433"/>
              <a:ext cx="1371599" cy="2651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모델 설정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805321" y="792972"/>
              <a:ext cx="1371599" cy="353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모델 미세 튜닝과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활용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185" y="1642717"/>
            <a:ext cx="4758340" cy="250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292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394441" y="273790"/>
            <a:ext cx="7582959" cy="3038899"/>
            <a:chOff x="394441" y="273790"/>
            <a:chExt cx="7582959" cy="303889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4441" y="273790"/>
              <a:ext cx="7582958" cy="3038899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394441" y="386572"/>
              <a:ext cx="1371599" cy="353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입력 텍스트 메시지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938761" y="386572"/>
              <a:ext cx="1371599" cy="353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1.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텍스트를 토큰화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310360" y="273791"/>
              <a:ext cx="1371599" cy="4804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2.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가장 긴 시퀸스에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맞춰 패딩 추가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741119" y="337431"/>
              <a:ext cx="1371599" cy="353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3.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패딩된 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592042" y="1413786"/>
              <a:ext cx="1385358" cy="4962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패딩 토큰으로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5026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을 사용한다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592042" y="2593335"/>
              <a:ext cx="1385357" cy="71935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가장 긴 메시지이기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때문에 마지막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샘플에는 패딩이  없다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381481" y="1626867"/>
              <a:ext cx="1099079" cy="283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912" y="1910964"/>
            <a:ext cx="5313125" cy="212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72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824720" y="404475"/>
            <a:ext cx="6620799" cy="4829849"/>
            <a:chOff x="824720" y="404475"/>
            <a:chExt cx="6620799" cy="482984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4720" y="404475"/>
              <a:ext cx="6620799" cy="4829849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1804879" y="906391"/>
              <a:ext cx="1371599" cy="353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smtClean="0">
                  <a:solidFill>
                    <a:schemeClr val="tx1"/>
                  </a:solidFill>
                </a:rPr>
                <a:t>원본 텍스트 메시지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906000" y="4777351"/>
              <a:ext cx="1371599" cy="353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각 배치는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8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개의 훈련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샘플로 구성된다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618720" y="589734"/>
              <a:ext cx="1745760" cy="353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각 텍스트 메시지는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120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개의 토큰까지 패딩된다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734799" y="4777351"/>
              <a:ext cx="2629681" cy="4569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각 항목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행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은 원본 텍스트 메시지에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해당하는 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를 나타낸다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719200" y="404475"/>
              <a:ext cx="1726319" cy="6826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클래스 레이블 배열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,</a:t>
              </a:r>
            </a:p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1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은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“spam”,</a:t>
              </a:r>
            </a:p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0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은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“ham”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을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나타낸다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892800" y="4757030"/>
              <a:ext cx="1371599" cy="353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8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 훈련 샘플의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클래스 레이블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586" y="1008679"/>
            <a:ext cx="4634581" cy="338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95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523374"/>
            <a:ext cx="6611273" cy="385816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3187157" y="3722069"/>
            <a:ext cx="5308773" cy="659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800" b="1" dirty="0" smtClean="0">
                <a:solidFill>
                  <a:schemeClr val="tx1"/>
                </a:solidFill>
              </a:rPr>
              <a:t>답</a:t>
            </a:r>
            <a:r>
              <a:rPr lang="en-US" altLang="ko-KR" sz="800" b="1" dirty="0" smtClean="0">
                <a:solidFill>
                  <a:schemeClr val="tx1"/>
                </a:solidFill>
              </a:rPr>
              <a:t>-k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토큰이 아닌 위치에 </a:t>
            </a:r>
            <a:r>
              <a:rPr lang="en-US" altLang="ko-KR" sz="800" b="1" dirty="0" smtClean="0">
                <a:solidFill>
                  <a:schemeClr val="tx1"/>
                </a:solidFill>
              </a:rPr>
              <a:t>0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확률을 할당하여 항상 다음 코튼을 탑</a:t>
            </a:r>
            <a:r>
              <a:rPr lang="en-US" altLang="ko-KR" sz="800" b="1" dirty="0" smtClean="0">
                <a:solidFill>
                  <a:schemeClr val="tx1"/>
                </a:solidFill>
              </a:rPr>
              <a:t>-k </a:t>
            </a:r>
            <a:r>
              <a:rPr lang="ko-KR" altLang="en-US" sz="800" b="1" dirty="0" smtClean="0">
                <a:solidFill>
                  <a:schemeClr val="tx1"/>
                </a:solidFill>
              </a:rPr>
              <a:t>토큰 중에서 샘플링되도록 한다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357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340387" y="200738"/>
            <a:ext cx="7516274" cy="3686689"/>
            <a:chOff x="446919" y="440435"/>
            <a:chExt cx="7516274" cy="368668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6919" y="440435"/>
              <a:ext cx="7516274" cy="3686689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446920" y="2722924"/>
              <a:ext cx="2118728" cy="6594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1)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모델은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3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 입력 토큰을 받아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   3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개의 벡터를 생성한다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859948" y="3467656"/>
              <a:ext cx="2658785" cy="6594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>
                  <a:solidFill>
                    <a:schemeClr val="tx1"/>
                  </a:solidFill>
                </a:rPr>
                <a:t>2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모델이 출력한 벡터에 있는 인덱스는 어휘사전에 있는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한 단어에 대응한다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662116" y="440435"/>
              <a:ext cx="2118728" cy="6594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>
                  <a:solidFill>
                    <a:schemeClr val="tx1"/>
                  </a:solidFill>
                </a:rPr>
                <a:t>3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훈련하지 않은 모델은 각 토큰에 대해서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랜덤한 벡터를 생성한다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918524" y="2608066"/>
              <a:ext cx="2044669" cy="7743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>
                  <a:solidFill>
                    <a:schemeClr val="tx1"/>
                  </a:solidFill>
                </a:rPr>
                <a:t>4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모델 훈련의 목적은 타깃에 있는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토큰의 인덱스에 해당하는 값을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최대화 하는 것 이다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904" y="530472"/>
            <a:ext cx="5283251" cy="25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64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309508" y="125656"/>
            <a:ext cx="5334744" cy="5611008"/>
            <a:chOff x="3418468" y="369496"/>
            <a:chExt cx="5334744" cy="561100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18468" y="369496"/>
              <a:ext cx="5334744" cy="5611008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5933024" y="389816"/>
              <a:ext cx="2388016" cy="555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에포크 한 번은 훈련 세트를 한복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반복하는 것이다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637280" y="615146"/>
              <a:ext cx="1666240" cy="3297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1)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훈련 에포크를 반복한다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992880" y="1231170"/>
              <a:ext cx="2011680" cy="3297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훈련 에포크마다 배치를 순회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715344" y="1005840"/>
              <a:ext cx="2037868" cy="1056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배치 횟수는 훈련 세트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크기를 각각의 배치 크기로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나눈 값으로 결정된다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582160" y="1897613"/>
              <a:ext cx="1764000" cy="34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3)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이전 배치 반복에서 얻은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그레이디언트를 초기화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582160" y="2564056"/>
              <a:ext cx="1737360" cy="3297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4)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현재 배치의 손실을 계산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582160" y="3236426"/>
              <a:ext cx="1737360" cy="35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5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역전파를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통해 손실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그레이디언트를 계산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608800" y="3909429"/>
              <a:ext cx="1737360" cy="35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6)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손실 그레이디언트를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사용해 모델 가중치 업데이트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929120" y="2842902"/>
              <a:ext cx="1813932" cy="12108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파이토치에서 심층 신경망을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훈련하기 위해서 사용하는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일반적인 단계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608800" y="4568246"/>
              <a:ext cx="1737360" cy="35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7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 훈련 세트 손실과 검증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세트 손실을 출력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992880" y="5274617"/>
              <a:ext cx="1737360" cy="356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8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 분류 정확도를 계산한다</a:t>
              </a:r>
              <a:endParaRPr lang="en-US" altLang="ko-KR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6901366" y="4488823"/>
              <a:ext cx="1851846" cy="1056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훈련 과정을 추적하기 위한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추가 단계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770" y="624597"/>
            <a:ext cx="3734123" cy="392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09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/>
        </p:nvGrpSpPr>
        <p:grpSpPr>
          <a:xfrm>
            <a:off x="546186" y="260880"/>
            <a:ext cx="7868748" cy="5298279"/>
            <a:chOff x="2181946" y="840000"/>
            <a:chExt cx="7868748" cy="529827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1946" y="841640"/>
              <a:ext cx="7868748" cy="5296639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3667344" y="1960880"/>
              <a:ext cx="1585376" cy="579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텍스트 데이터셋의 많은 부분을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모델 훈련을 위해사용한다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763104" y="5047058"/>
              <a:ext cx="1910496" cy="8355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텍스트 데이터셋의 적은 부분을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모델 검증을 위해사용한다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983824" y="840000"/>
              <a:ext cx="1585376" cy="389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길이가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6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인 토큰화된 데이터셋의 첫 샘플 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832944" y="840000"/>
              <a:ext cx="1747936" cy="389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스트라이드를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6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으로 설정했을 때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토큰화된 두 번째 샘플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8757712" y="2668800"/>
              <a:ext cx="1292982" cy="389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최대 길이가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6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인 데이터셋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을 처리한다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8605104" y="3857520"/>
              <a:ext cx="1361856" cy="3893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토큰화된 데이터셋의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두 번째 샘플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57712" y="5296959"/>
              <a:ext cx="1292982" cy="8413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데이터셋을 배치로 묶는다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여기서 배치 크기는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2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이고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샘플을 랜덤하게 섞는다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8970864" y="1469920"/>
              <a:ext cx="904656" cy="297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토큰화 된 훈련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데이터 셋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757712" y="3349520"/>
              <a:ext cx="1117808" cy="286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길이가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6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인 샘플로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구성된 훈련 데이터셋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778032" y="4786339"/>
              <a:ext cx="904656" cy="2979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배치 훈련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800" b="1" dirty="0" smtClean="0">
                  <a:solidFill>
                    <a:schemeClr val="tx1"/>
                  </a:solidFill>
                </a:rPr>
                <a:t>데이터 셋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692" y="780058"/>
            <a:ext cx="5509433" cy="370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986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394241" y="0"/>
            <a:ext cx="5896798" cy="3467584"/>
            <a:chOff x="2588801" y="862088"/>
            <a:chExt cx="5896798" cy="346758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8801" y="862088"/>
              <a:ext cx="5896798" cy="3467584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2814320" y="862088"/>
              <a:ext cx="2484072" cy="367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537200" y="3147138"/>
              <a:ext cx="2118728" cy="7543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음의 평균 로그 확률이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여기서 계산할 손실이다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905552" y="1229360"/>
              <a:ext cx="1371808" cy="294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로짓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905552" y="1713472"/>
              <a:ext cx="1371808" cy="2161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smtClean="0">
                  <a:solidFill>
                    <a:schemeClr val="tx1"/>
                  </a:solidFill>
                </a:rPr>
                <a:t>확률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877588" y="2131544"/>
              <a:ext cx="1371808" cy="4186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타깃 토큰 확률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877588" y="2752060"/>
              <a:ext cx="1371808" cy="294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로그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확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률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999508" y="3157704"/>
              <a:ext cx="1371808" cy="4389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평균 로그 확률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905552" y="3819616"/>
              <a:ext cx="1371808" cy="384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음의 평균 로그 확률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971" y="183636"/>
            <a:ext cx="4126740" cy="242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1658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519034" y="435024"/>
            <a:ext cx="7744906" cy="3715268"/>
            <a:chOff x="519034" y="435024"/>
            <a:chExt cx="7744906" cy="3715268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9034" y="435024"/>
              <a:ext cx="7744906" cy="3715268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2264034" y="574528"/>
              <a:ext cx="2387865" cy="402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1)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어휘사전을 사용해 입력 텍스트를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토큰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로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매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핑한다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</a:p>
            <a:p>
              <a:pPr marL="228600" indent="-228600">
                <a:buAutoNum type="arabicParenR"/>
              </a:pP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723977" y="1366120"/>
              <a:ext cx="1818214" cy="402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>
                  <a:solidFill>
                    <a:schemeClr val="tx1"/>
                  </a:solidFill>
                </a:rPr>
                <a:t>2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) Softmax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함수를 사용해 각 입력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토큰에 대해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7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차원 확률 벡터를 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얻는다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.</a:t>
              </a:r>
            </a:p>
            <a:p>
              <a:pPr marL="228600" indent="-228600">
                <a:buAutoNum type="arabicParenR"/>
              </a:pP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742792" y="1531615"/>
              <a:ext cx="1818214" cy="483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 smtClean="0">
                  <a:solidFill>
                    <a:schemeClr val="tx1"/>
                  </a:solidFill>
                </a:rPr>
                <a:t>3)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각 벡터 행에서 </a:t>
              </a:r>
              <a:r>
                <a:rPr lang="en-US" altLang="ko-KR" sz="800" b="1" dirty="0" err="1" smtClean="0">
                  <a:solidFill>
                    <a:schemeClr val="tx1"/>
                  </a:solidFill>
                </a:rPr>
                <a:t>argmax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함수를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사용해 가장 큰 확률 값을 가진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인덱스를 찾는다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291510" y="3539448"/>
              <a:ext cx="2452342" cy="483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>
                  <a:solidFill>
                    <a:schemeClr val="tx1"/>
                  </a:solidFill>
                </a:rPr>
                <a:t>4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가장 높은 확률을 가진 인덱스를 토큰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로 예측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88086" y="1639627"/>
              <a:ext cx="1234982" cy="668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800" b="1" dirty="0">
                  <a:solidFill>
                    <a:schemeClr val="tx1"/>
                  </a:solidFill>
                </a:rPr>
                <a:t>5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역어휘 사전을 통해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인덱스를 텍스트로</a:t>
              </a:r>
              <a:endParaRPr lang="en-US" altLang="ko-KR" sz="8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8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800" b="1" dirty="0" smtClean="0">
                  <a:solidFill>
                    <a:schemeClr val="tx1"/>
                  </a:solidFill>
                </a:rPr>
                <a:t>    </a:t>
              </a:r>
              <a:r>
                <a:rPr lang="ko-KR" altLang="en-US" sz="800" b="1" dirty="0" smtClean="0">
                  <a:solidFill>
                    <a:schemeClr val="tx1"/>
                  </a:solidFill>
                </a:rPr>
                <a:t>다시 매핑한다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656" y="1569560"/>
            <a:ext cx="5424082" cy="260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16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561585" y="210544"/>
            <a:ext cx="5582429" cy="4963219"/>
            <a:chOff x="1866603" y="370342"/>
            <a:chExt cx="5582429" cy="4963219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66603" y="370343"/>
              <a:ext cx="5582429" cy="4963218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3185833" y="370343"/>
              <a:ext cx="1031060" cy="2977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심층 신경망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096012" y="370342"/>
              <a:ext cx="1198256" cy="4020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숏컷 연결이 있는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심층 신경망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866603" y="4517694"/>
              <a:ext cx="1319230" cy="5780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매우 깊은 신경망에서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앞쪽 층의 기울기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값이 매우 작아진다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4216892" y="4971934"/>
              <a:ext cx="2352583" cy="3616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숏컷 연결은 앞쪽 층에서 비교적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큰 기울기 값을 유지하도록 돕는다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427433" y="3755694"/>
              <a:ext cx="1021599" cy="6209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숏컷 연결은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입력 값을 층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1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의 출력에 더한다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260" y="923327"/>
            <a:ext cx="3956037" cy="35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15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736146" y="275109"/>
            <a:ext cx="5725326" cy="5077534"/>
            <a:chOff x="2585266" y="295429"/>
            <a:chExt cx="5725326" cy="507753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5267" y="295429"/>
              <a:ext cx="5725324" cy="5077534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5610916" y="295429"/>
              <a:ext cx="2077146" cy="6278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모델이 얼마나 잘 텍스트를 생성했는지 계산하는 함수 구현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702217" y="1178212"/>
              <a:ext cx="736618" cy="3309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1)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텍스트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 생성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973204" y="1178212"/>
              <a:ext cx="736618" cy="3309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텍스트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 평가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288578" y="1178212"/>
              <a:ext cx="1399483" cy="3309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3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훈련 및 검증 손실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812152" y="2226492"/>
              <a:ext cx="1153642" cy="3309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4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LLM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훈련 함수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4785517" y="3091519"/>
              <a:ext cx="1224000" cy="34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5)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텍스트 생성 전략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776973" y="3840380"/>
              <a:ext cx="1224000" cy="4445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6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가중치 저장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및 로드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812152" y="4666958"/>
              <a:ext cx="1188821" cy="5451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7)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 오픈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AI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의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사전 훈련된 가중치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585267" y="2646922"/>
              <a:ext cx="1946093" cy="5433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사람이 쓴 것 같은 텍스트를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생성하는 모델을 훈련한다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364498" y="2834196"/>
              <a:ext cx="1946093" cy="823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훈련 데이터가 그대로 출력되지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않도록 추가적인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LLM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텍스트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생성 전략을 구현한다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2585266" y="3916252"/>
              <a:ext cx="1742894" cy="8995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나중에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LLM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을 사용하고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훈련을 이어서 할 수 있도록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가중치를 저장하고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로드하는 함수를 구현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6364498" y="4159186"/>
              <a:ext cx="1946094" cy="823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오픈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AI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의 사전 훈련된 가중치를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이전 장에서 구현한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LLM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모델에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로드한다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" name="그림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6046" y="428729"/>
            <a:ext cx="4037121" cy="355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23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639221" y="202628"/>
            <a:ext cx="7763958" cy="3648584"/>
            <a:chOff x="639221" y="202628"/>
            <a:chExt cx="7763958" cy="364858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9221" y="202628"/>
              <a:ext cx="7763958" cy="3648584"/>
            </a:xfrm>
            <a:prstGeom prst="rect">
              <a:avLst/>
            </a:prstGeom>
          </p:spPr>
        </p:pic>
        <p:sp>
          <p:nvSpPr>
            <p:cNvPr id="6" name="직사각형 5"/>
            <p:cNvSpPr/>
            <p:nvPr/>
          </p:nvSpPr>
          <p:spPr>
            <a:xfrm>
              <a:off x="1365416" y="2305972"/>
              <a:ext cx="2434424" cy="396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1)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토큰나이저를 사용해 입력 텍스트를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   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표현으로 인코딩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39221" y="959026"/>
              <a:ext cx="2266539" cy="869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</a:rPr>
                <a:t>2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) 4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개의 입력 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에 대해 모델은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 4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개의 로짓 벡터를 생성한다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.</a:t>
              </a:r>
            </a:p>
            <a:p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각 벡터는 어휘사전 크기에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해당하는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50,257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개의 열을 가진다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790341" y="1393913"/>
              <a:ext cx="2266539" cy="869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3)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로짓을 토큰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로 변환한 후에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토크나이저를 사용해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를 텍스트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표현으로 디코딩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341" y="2264984"/>
            <a:ext cx="5462489" cy="255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7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606841" y="400815"/>
            <a:ext cx="2756400" cy="2721500"/>
            <a:chOff x="606841" y="400815"/>
            <a:chExt cx="2756400" cy="27215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4526" y="400815"/>
              <a:ext cx="2748715" cy="272150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2253985" y="637740"/>
              <a:ext cx="990154" cy="252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600" b="1" dirty="0" smtClean="0">
                  <a:solidFill>
                    <a:schemeClr val="tx1"/>
                  </a:solidFill>
                </a:rPr>
                <a:t>다음에 생</a:t>
              </a:r>
              <a:r>
                <a:rPr lang="ko-KR" altLang="en-US" sz="600" b="1" dirty="0">
                  <a:solidFill>
                    <a:schemeClr val="tx1"/>
                  </a:solidFill>
                </a:rPr>
                <a:t>성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될 토큰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200897" y="435393"/>
              <a:ext cx="1060772" cy="252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600" b="1" dirty="0" smtClean="0">
                  <a:solidFill>
                    <a:schemeClr val="tx1"/>
                  </a:solidFill>
                </a:rPr>
                <a:t>모델의 입력 문맥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14526" y="1070608"/>
              <a:ext cx="515027" cy="252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600" b="1" dirty="0" smtClean="0">
                  <a:solidFill>
                    <a:schemeClr val="tx1"/>
                  </a:solidFill>
                </a:rPr>
                <a:t>첫 번째 반복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339788" y="1070607"/>
              <a:ext cx="1023453" cy="481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이전 라운드에서 생성된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토큰이 다음 반복을 위해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입력에 추가된다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606842" y="1620033"/>
              <a:ext cx="553447" cy="252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600" b="1" dirty="0">
                  <a:solidFill>
                    <a:schemeClr val="tx1"/>
                  </a:solidFill>
                </a:rPr>
                <a:t>두</a:t>
              </a:r>
              <a:r>
                <a:rPr lang="ko-KR" altLang="en-US" sz="600" b="1" smtClean="0">
                  <a:solidFill>
                    <a:schemeClr val="tx1"/>
                  </a:solidFill>
                </a:rPr>
                <a:t>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번째 반복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606842" y="2169458"/>
              <a:ext cx="553447" cy="252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600" b="1" dirty="0" smtClean="0">
                  <a:solidFill>
                    <a:schemeClr val="tx1"/>
                  </a:solidFill>
                </a:rPr>
                <a:t>세 번째 반복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06841" y="2805952"/>
              <a:ext cx="594056" cy="252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600" b="1" smtClean="0">
                  <a:solidFill>
                    <a:schemeClr val="tx1"/>
                  </a:solidFill>
                </a:rPr>
                <a:t>여섯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번째 반복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530608" y="1631577"/>
              <a:ext cx="832633" cy="4815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반복마다 입력 문맥이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성장한다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4326209" y="374881"/>
            <a:ext cx="4653765" cy="2683399"/>
            <a:chOff x="4326209" y="374881"/>
            <a:chExt cx="4653765" cy="2683399"/>
          </a:xfrm>
        </p:grpSpPr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6209" y="374881"/>
              <a:ext cx="4653765" cy="2683399"/>
            </a:xfrm>
            <a:prstGeom prst="rect">
              <a:avLst/>
            </a:prstGeom>
          </p:spPr>
        </p:pic>
        <p:sp>
          <p:nvSpPr>
            <p:cNvPr id="16" name="직사각형 15"/>
            <p:cNvSpPr/>
            <p:nvPr/>
          </p:nvSpPr>
          <p:spPr>
            <a:xfrm>
              <a:off x="4326209" y="637740"/>
              <a:ext cx="1060772" cy="2523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1.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텍스트 입력을 토큰</a:t>
              </a:r>
              <a:r>
                <a:rPr lang="en-US" altLang="ko-KR" sz="6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로</a:t>
              </a:r>
              <a:r>
                <a:rPr lang="ko-KR" altLang="en-US" sz="6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6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인코딩한다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5854050" y="435393"/>
              <a:ext cx="1361257" cy="3445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2. GPT 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모델은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4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개의 벡터와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각 벡터가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50,257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차원으로 구성된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6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행렬을 반환한다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7520205" y="890068"/>
              <a:ext cx="1361257" cy="3445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600" b="1" dirty="0">
                  <a:solidFill>
                    <a:schemeClr val="tx1"/>
                  </a:solidFill>
                </a:rPr>
                <a:t>3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 GPT 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모델이 생성할 다음 토큰에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6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해당하는 마지막 벡터를 추출한다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7776339" y="1648884"/>
              <a:ext cx="1203635" cy="3445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4.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소프트맥스 함수를 사용해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  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로짓을 확률분포로 변환한다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7725112" y="2164071"/>
              <a:ext cx="1203635" cy="3445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600" b="1" dirty="0">
                  <a:solidFill>
                    <a:schemeClr val="tx1"/>
                  </a:solidFill>
                </a:rPr>
                <a:t>5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가장 큰 값의 인덱스 위치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6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 (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토큰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ID)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를 찾는다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7174521" y="2679258"/>
              <a:ext cx="1203635" cy="3445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가장 큰 원소의 위치가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257 </a:t>
              </a:r>
              <a:endParaRPr lang="en-US" altLang="ko-KR" sz="600" b="1" dirty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이라면 토큰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ID 257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를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얻는다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409756" y="2904565"/>
              <a:ext cx="1203635" cy="1535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토큰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ID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를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텍스트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‘a’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로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디코딩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4753953" y="2461416"/>
              <a:ext cx="1203635" cy="3445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6.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다음 라운드를 위해 이 토큰을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600" b="1" dirty="0">
                  <a:solidFill>
                    <a:schemeClr val="tx1"/>
                  </a:solidFill>
                </a:rPr>
                <a:t>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이전 입력에 추가한다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97099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28" y="297742"/>
            <a:ext cx="3901032" cy="3914368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5354766" y="783085"/>
            <a:ext cx="3342004" cy="3570608"/>
            <a:chOff x="5354766" y="783085"/>
            <a:chExt cx="3342004" cy="357060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4767" y="783085"/>
              <a:ext cx="3342002" cy="3570608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7625328" y="783085"/>
              <a:ext cx="1071441" cy="5270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마지막 행이 모델이 생성하려는 단어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(“forward”)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를 나타내도록  임베딩을 텍스트로 변환하는 것이 목표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7693204" y="1523314"/>
              <a:ext cx="1003566" cy="5270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마지막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선형 층은 각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토큰 백터를 어휘사전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크기인 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50,257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차원의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임베딩으로 변환한다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693204" y="3106225"/>
              <a:ext cx="1003565" cy="674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GTP 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구현은 토큰 임베딩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층과 위이 임베딩 층을 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포함한다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5354766" y="2842703"/>
              <a:ext cx="824202" cy="5270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600" b="1" dirty="0" smtClean="0">
                  <a:solidFill>
                    <a:schemeClr val="tx1"/>
                  </a:solidFill>
                </a:rPr>
                <a:t>트렌스포머 블록은</a:t>
              </a:r>
              <a:endParaRPr lang="en-US" altLang="ko-KR" sz="600" b="1" dirty="0" smtClean="0">
                <a:solidFill>
                  <a:schemeClr val="tx1"/>
                </a:solidFill>
              </a:endParaRPr>
            </a:p>
            <a:p>
              <a:r>
                <a:rPr lang="en-US" altLang="ko-KR" sz="600" b="1" dirty="0" smtClean="0">
                  <a:solidFill>
                    <a:schemeClr val="tx1"/>
                  </a:solidFill>
                </a:rPr>
                <a:t>12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번 반복됩니다</a:t>
              </a:r>
              <a:r>
                <a:rPr lang="en-US" altLang="ko-KR" sz="6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354766" y="812459"/>
              <a:ext cx="938457" cy="3465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600" b="1" dirty="0" smtClean="0">
                  <a:solidFill>
                    <a:schemeClr val="tx1"/>
                  </a:solidFill>
                </a:rPr>
                <a:t>4*50, 257</a:t>
              </a:r>
              <a:r>
                <a:rPr lang="ko-KR" altLang="en-US" sz="600" b="1" dirty="0" smtClean="0">
                  <a:solidFill>
                    <a:schemeClr val="tx1"/>
                  </a:solidFill>
                </a:rPr>
                <a:t>차원 텐서</a:t>
              </a:r>
              <a:endParaRPr lang="ko-KR" altLang="en-US" sz="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83087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887" y="304122"/>
            <a:ext cx="5820587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658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82777" y="170268"/>
            <a:ext cx="5413783" cy="2918372"/>
            <a:chOff x="3171417" y="1785708"/>
            <a:chExt cx="5849166" cy="328658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1417" y="1785708"/>
              <a:ext cx="5849166" cy="3286584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4478883" y="2438400"/>
              <a:ext cx="1688237" cy="172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층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 정규화 적용하기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917283" y="1889760"/>
              <a:ext cx="905917" cy="3352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평균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= 0.00</a:t>
              </a: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분산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= 1.00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917282" y="2722880"/>
              <a:ext cx="905917" cy="3352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평균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= 0.13</a:t>
              </a: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분산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= 0.39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8114666" y="2189480"/>
              <a:ext cx="905917" cy="7975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평균이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0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이고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분산이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1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이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되도록 정규화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25843" y="4185920"/>
              <a:ext cx="219474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층 입력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,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여기서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5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개의 값이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하나의 훈련 샘플을 나타냅니다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171417" y="3261360"/>
              <a:ext cx="709703" cy="518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층 출력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766331" y="173203"/>
            <a:ext cx="5338549" cy="3514877"/>
            <a:chOff x="5766331" y="173203"/>
            <a:chExt cx="5963482" cy="4072643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6331" y="173203"/>
              <a:ext cx="5963482" cy="4039164"/>
            </a:xfrm>
            <a:prstGeom prst="rect">
              <a:avLst/>
            </a:prstGeom>
          </p:spPr>
        </p:pic>
        <p:sp>
          <p:nvSpPr>
            <p:cNvPr id="13" name="직사각형 12"/>
            <p:cNvSpPr/>
            <p:nvPr/>
          </p:nvSpPr>
          <p:spPr>
            <a:xfrm>
              <a:off x="6612628" y="282983"/>
              <a:ext cx="3459230" cy="487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dim=1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또는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dim=-1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은 열 차원을 따라 평균을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계산하므로 행마다 하나의 평균이 얻어집니다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8270583" y="2463964"/>
              <a:ext cx="3459230" cy="487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en-US" altLang="ko-KR" sz="1000" b="1" dirty="0" smtClean="0">
                  <a:solidFill>
                    <a:schemeClr val="tx1"/>
                  </a:solidFill>
                </a:rPr>
                <a:t>dim=0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은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행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 차원을 따라 평균을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계산하므로 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각 열마다 하나의 평균이 얻어집니다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0311148" y="643746"/>
              <a:ext cx="776709" cy="361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평균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5818896" y="3884786"/>
              <a:ext cx="776709" cy="361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평균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5272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467414" y="351900"/>
            <a:ext cx="5702565" cy="4095812"/>
            <a:chOff x="3095206" y="1328444"/>
            <a:chExt cx="6001588" cy="4201111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5206" y="1328444"/>
              <a:ext cx="6001588" cy="4201111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6930758" y="2206683"/>
              <a:ext cx="2166036" cy="6874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임베딩 차원을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4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배만큼 줄이는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두 번째 선형 층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930758" y="3728586"/>
              <a:ext cx="2166036" cy="6874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임베딩 차원을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4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배만큼 늘이는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>
                  <a:solidFill>
                    <a:schemeClr val="tx1"/>
                  </a:solidFill>
                </a:rPr>
                <a:t>첫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 번째 선형 층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272113" y="4742120"/>
              <a:ext cx="3188306" cy="7874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각각의 차원은 배치 크기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(2),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토큰 개수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(3),</a:t>
              </a: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임베딩 크기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(768)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를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나타낸다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540968" y="2318518"/>
              <a:ext cx="977766" cy="2648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선형층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540968" y="3939861"/>
              <a:ext cx="977766" cy="2648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선형층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471426" y="3131121"/>
              <a:ext cx="1180473" cy="2779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</a:rPr>
                <a:t>GELU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활성화 함수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454" y="351900"/>
            <a:ext cx="4275191" cy="30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7825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492345" y="326470"/>
            <a:ext cx="5944430" cy="3400900"/>
            <a:chOff x="736185" y="509350"/>
            <a:chExt cx="5944430" cy="340090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185" y="509350"/>
              <a:ext cx="5944430" cy="340090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798521" y="1185078"/>
              <a:ext cx="929050" cy="2582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선형층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2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798521" y="3003718"/>
              <a:ext cx="929050" cy="2582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</a:rPr>
                <a:t>선형층 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1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497765" y="509350"/>
              <a:ext cx="2182849" cy="675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두 번째 선형 층은 네 배만큼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출력을 줄여 원래 차원으로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00" b="1" dirty="0" smtClean="0">
                  <a:solidFill>
                    <a:schemeClr val="tx1"/>
                  </a:solidFill>
                </a:rPr>
                <a:t>돌린다</a:t>
              </a:r>
              <a:r>
                <a:rPr lang="en-US" altLang="ko-KR" sz="1000" b="1" dirty="0" smtClean="0">
                  <a:solidFill>
                    <a:schemeClr val="tx1"/>
                  </a:solidFill>
                </a:rPr>
                <a:t>.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026085" y="2794977"/>
              <a:ext cx="1654529" cy="675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첫 번째 선형 층에서 입력을</a:t>
              </a:r>
              <a:endParaRPr lang="en-US" altLang="ko-KR" sz="1000" b="1" dirty="0" smtClean="0">
                <a:solidFill>
                  <a:schemeClr val="tx1"/>
                </a:solidFill>
              </a:endParaRPr>
            </a:p>
            <a:p>
              <a:r>
                <a:rPr lang="ko-KR" altLang="en-US" sz="1000" b="1" dirty="0" smtClean="0">
                  <a:solidFill>
                    <a:schemeClr val="tx1"/>
                  </a:solidFill>
                </a:rPr>
                <a:t>네 배 더 큰 공간에 투영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4454" y="326470"/>
            <a:ext cx="4485521" cy="25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210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18" y="166255"/>
            <a:ext cx="1990898" cy="171242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927" y="333940"/>
            <a:ext cx="4018372" cy="162597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02" y="2779057"/>
            <a:ext cx="5025044" cy="145680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889" y="2779057"/>
            <a:ext cx="4025022" cy="260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023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618" y="417251"/>
            <a:ext cx="4030010" cy="236912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963" y="579543"/>
            <a:ext cx="5044916" cy="204454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18" y="2902966"/>
            <a:ext cx="5998185" cy="353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271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64239" y="434071"/>
            <a:ext cx="3532273" cy="2190257"/>
            <a:chOff x="591670" y="1156447"/>
            <a:chExt cx="6275295" cy="4195483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76" t="27617" r="18013" b="16959"/>
            <a:stretch/>
          </p:blipFill>
          <p:spPr>
            <a:xfrm>
              <a:off x="591670" y="1156447"/>
              <a:ext cx="5432612" cy="380103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864" t="40523" r="24215" b="27581"/>
            <a:stretch/>
          </p:blipFill>
          <p:spPr>
            <a:xfrm>
              <a:off x="3953435" y="3297302"/>
              <a:ext cx="2913530" cy="2054628"/>
            </a:xfrm>
            <a:prstGeom prst="rect">
              <a:avLst/>
            </a:prstGeom>
          </p:spPr>
        </p:pic>
        <p:sp>
          <p:nvSpPr>
            <p:cNvPr id="4" name="오른쪽 화살표 3"/>
            <p:cNvSpPr/>
            <p:nvPr/>
          </p:nvSpPr>
          <p:spPr>
            <a:xfrm>
              <a:off x="3550023" y="3451412"/>
              <a:ext cx="313765" cy="105783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4" t="25067" r="11866" b="24267"/>
          <a:stretch/>
        </p:blipFill>
        <p:spPr>
          <a:xfrm>
            <a:off x="4416554" y="447045"/>
            <a:ext cx="3572355" cy="173839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2" t="18022" r="6115" b="44728"/>
          <a:stretch/>
        </p:blipFill>
        <p:spPr>
          <a:xfrm>
            <a:off x="5978454" y="3583792"/>
            <a:ext cx="3685930" cy="1278077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4" r="4271" b="37075"/>
          <a:stretch/>
        </p:blipFill>
        <p:spPr>
          <a:xfrm>
            <a:off x="643769" y="3297768"/>
            <a:ext cx="4186425" cy="215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390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4" t="25067" r="11866" b="24267"/>
          <a:stretch/>
        </p:blipFill>
        <p:spPr>
          <a:xfrm>
            <a:off x="612650" y="209300"/>
            <a:ext cx="10017536" cy="487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265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3" t="21733" r="23767" b="5467"/>
          <a:stretch/>
        </p:blipFill>
        <p:spPr>
          <a:xfrm>
            <a:off x="502921" y="265177"/>
            <a:ext cx="3352799" cy="249782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0" t="23660" r="7647" b="25621"/>
          <a:stretch/>
        </p:blipFill>
        <p:spPr>
          <a:xfrm>
            <a:off x="4651248" y="265177"/>
            <a:ext cx="3538187" cy="174020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3" t="21333" r="12067" b="35467"/>
          <a:stretch/>
        </p:blipFill>
        <p:spPr>
          <a:xfrm>
            <a:off x="4651248" y="2258568"/>
            <a:ext cx="3573239" cy="172821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34" t="28533" r="16667" b="49200"/>
          <a:stretch/>
        </p:blipFill>
        <p:spPr>
          <a:xfrm>
            <a:off x="4651248" y="4239966"/>
            <a:ext cx="2213808" cy="76399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3" t="35733" r="31166" b="38001"/>
          <a:stretch/>
        </p:blipFill>
        <p:spPr>
          <a:xfrm>
            <a:off x="7278625" y="4239966"/>
            <a:ext cx="1495769" cy="90120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3" t="33066" r="34467" b="57334"/>
          <a:stretch/>
        </p:blipFill>
        <p:spPr>
          <a:xfrm>
            <a:off x="4651249" y="5257146"/>
            <a:ext cx="1132085" cy="49407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33" t="46000" r="27467" b="35466"/>
          <a:stretch/>
        </p:blipFill>
        <p:spPr>
          <a:xfrm>
            <a:off x="9142735" y="4239966"/>
            <a:ext cx="1308187" cy="63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410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7" t="3333" r="20074" b="9200"/>
          <a:stretch/>
        </p:blipFill>
        <p:spPr>
          <a:xfrm>
            <a:off x="237745" y="137160"/>
            <a:ext cx="1956029" cy="299742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4" t="19199" r="9767" b="23334"/>
          <a:stretch/>
        </p:blipFill>
        <p:spPr>
          <a:xfrm>
            <a:off x="2377440" y="137160"/>
            <a:ext cx="3741550" cy="19717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3" t="6666" r="17367" b="30134"/>
          <a:stretch/>
        </p:blipFill>
        <p:spPr>
          <a:xfrm>
            <a:off x="2377440" y="2240280"/>
            <a:ext cx="3375670" cy="216844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440" y="4653818"/>
            <a:ext cx="2624504" cy="69542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2656" y="114680"/>
            <a:ext cx="3315163" cy="183381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714" y="2286525"/>
            <a:ext cx="3343742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554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3" t="37867" r="20267" b="38399"/>
          <a:stretch/>
        </p:blipFill>
        <p:spPr>
          <a:xfrm>
            <a:off x="292609" y="256032"/>
            <a:ext cx="2625521" cy="81433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038" y="400519"/>
            <a:ext cx="3472347" cy="209579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4" t="3856" r="7366" b="24203"/>
          <a:stretch/>
        </p:blipFill>
        <p:spPr>
          <a:xfrm>
            <a:off x="557784" y="2660904"/>
            <a:ext cx="3997744" cy="246835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t="20262" r="4019" b="49019"/>
          <a:stretch/>
        </p:blipFill>
        <p:spPr>
          <a:xfrm>
            <a:off x="5743866" y="2841087"/>
            <a:ext cx="4273653" cy="105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22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4578</TotalTime>
  <Words>1761</Words>
  <Application>Microsoft Office PowerPoint</Application>
  <PresentationFormat>와이드스크린</PresentationFormat>
  <Paragraphs>448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1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박주영</dc:creator>
  <cp:lastModifiedBy>박주영</cp:lastModifiedBy>
  <cp:revision>147</cp:revision>
  <dcterms:created xsi:type="dcterms:W3CDTF">2025-09-23T04:54:35Z</dcterms:created>
  <dcterms:modified xsi:type="dcterms:W3CDTF">2025-11-04T02:03:49Z</dcterms:modified>
</cp:coreProperties>
</file>